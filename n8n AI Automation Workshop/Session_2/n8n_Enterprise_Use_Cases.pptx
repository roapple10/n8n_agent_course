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Deck goal: answer every Session 1 feedback item with a concrete enterprise use case and architecture. Audience: IT / ops engineers.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four are official n8n case studies (n8n.io/case-studies). Delivery Hero: 800 lockouts/mo, 35→20 min each = 200 hours back monthly. Vodafone: threat-intel automation webinar figure £2.2M. Musixmatch: 47 days in 4 months. StepStone: 200+ daily workflows, 25x faster integrations.</a:t>
            </a:r>
            <a:endParaRPr/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Bridge slide: none of these companies did anything exotic — they applied the exact patterns in this deck at scale. Use this to answer 'does anyone serious actually use n8n?'</a:t>
            </a:r>
            <a:endParaRPr/>
          </a:p>
        </p:txBody>
      </p:sp>
      <p:sp>
        <p:nvSpPr>
          <p:cNvPr id="49" name="Google Shape;4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Official n8n case study. Key lesson for clients: the win came from redesigning the process (manager approves), not just wiring APIs. 200 hours/month saved.</a:t>
            </a:r>
            <a:endParaRPr/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Official n8n case study + webinar. Driver was the UK Telecom Security Act: more logging/monitoring without more headcount. Emphasize modules + environments = the collaboration features from our later slide, used in production.</a:t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Official n8n case study. 80M users, clients like Spotify &amp; Apple Music. The script-switch workflow took 1 week to build, now answers client requests in 15 seconds. Pattern = our webhook + sub-workflow patterns productized internally.</a:t>
            </a:r>
            <a:endParaRPr/>
          </a:p>
        </p:txBody>
      </p:sp>
      <p:sp>
        <p:nvSpPr>
          <p:cNvPr id="170" name="Google Shape;17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Alex's exact use case: PagerDuty alert emails → extract alert type, severity, service, incident details → retrieve runbooks from Confluence → AI decides immediate action vs normal follow-up.</a:t>
            </a:r>
            <a:endParaRPr/>
          </a:p>
        </p:txBody>
      </p:sp>
      <p:sp>
        <p:nvSpPr>
          <p:cNvPr id="212" name="Google Shape;21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Jack: 'how to ask AI to look up Confluence or any other knowledge base and answer accordingly.' Andy: RAG + Vector DB. Emphasize the two independent pipelines.</a:t>
            </a:r>
            <a:endParaRPr/>
          </a:p>
        </p:txBody>
      </p:sp>
      <p:sp>
        <p:nvSpPr>
          <p:cNvPr id="242" name="Google Shape;24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Victor: AI agent that extracts tickets from Jira and answers specific questions; periodically filter tickets missing fields and auto-fill from summaries/comments. James: Jira ↔ Teams bot interaction.</a:t>
            </a:r>
            <a:endParaRPr/>
          </a:p>
        </p:txBody>
      </p:sp>
      <p:sp>
        <p:nvSpPr>
          <p:cNvPr id="277" name="Google Shape;27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James asked for Teams(bot) ↔ n8n in Session 2. Start with pattern 1 (instant win), demo pattern 2 live, explain when pattern 3 is worth the Entra setup. Mention Teams gives up after 5s — always ack fast.</a:t>
            </a:r>
            <a:endParaRPr/>
          </a:p>
        </p:txBody>
      </p:sp>
      <p:sp>
        <p:nvSpPr>
          <p:cNvPr id="311" name="Google Shape;31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Andy asked for more practical webhook examples he can operate. In Session 2 we do example A live end-to-end, then students repeat with example B. Stress test-vs-production URL — the #1 beginner confusion.</a:t>
            </a:r>
            <a:endParaRPr/>
          </a:p>
        </p:txBody>
      </p:sp>
      <p:sp>
        <p:nvSpPr>
          <p:cNvPr id="341" name="Google Shape;34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James's question: experience with multi-person workflow editing — how, and what to watch out for. Key message: n8n has no Google-Docs-style live co-editing; discipline + Git is the answer. Community edition: export JSON to Git via CLI/API as a lighter alternative.</a:t>
            </a:r>
            <a:endParaRPr/>
          </a:p>
        </p:txBody>
      </p:sp>
      <p:sp>
        <p:nvSpPr>
          <p:cNvPr id="375" name="Google Shape;37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Victor: how to run workflows 24/7 without my PC on, cloud + OpenWebUI. Compare the three options by ops effort; demo the export/import migration path.</a:t>
            </a:r>
            <a:endParaRPr/>
          </a:p>
        </p:txBody>
      </p:sp>
      <p:sp>
        <p:nvSpPr>
          <p:cNvPr id="415" name="Google Shape;41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picture that contains every use case from today. Each feedback item is one path through this diagram — that's the power of a single orchestration layer.</a:t>
            </a:r>
            <a:endParaRPr/>
          </a:p>
        </p:txBody>
      </p:sp>
      <p:sp>
        <p:nvSpPr>
          <p:cNvPr id="442" name="Google Shape;44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by connecting agenda to feedback and de-risking the access problem Andy raised: everyone should verify Azure Foundry + Graph permissions with IT</a:t>
            </a:r>
            <a:endParaRPr/>
          </a:p>
        </p:txBody>
      </p:sp>
      <p:sp>
        <p:nvSpPr>
          <p:cNvPr id="481" name="Google Shape;48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64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N8N ENTERPRISE AUTOMATION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40080" y="1463040"/>
            <a:ext cx="78638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Enterprise Use Cases,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Built from Your Feedback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40080" y="306324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4F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D4F6"/>
                </a:solidFill>
                <a:latin typeface="Calibri"/>
                <a:ea typeface="Calibri"/>
                <a:cs typeface="Calibri"/>
                <a:sym typeface="Calibri"/>
              </a:rPr>
              <a:t>Session 2 preparation  ·  Ray Lin  ·  July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3977640"/>
            <a:ext cx="1417320" cy="502920"/>
          </a:xfrm>
          <a:prstGeom prst="roundRect">
            <a:avLst>
              <a:gd fmla="val 9091" name="adj"/>
            </a:avLst>
          </a:prstGeom>
          <a:solidFill>
            <a:srgbClr val="20264B"/>
          </a:solidFill>
          <a:ln cap="flat" cmpd="sng" w="12700">
            <a:solidFill>
              <a:srgbClr val="C9D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40080" y="397764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4F6"/>
                </a:solidFill>
                <a:latin typeface="Calibri"/>
                <a:ea typeface="Calibri"/>
                <a:cs typeface="Calibri"/>
                <a:sym typeface="Calibri"/>
              </a:rPr>
              <a:t>Trigger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2057400" y="422910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C9D4F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" name="Google Shape;22;p3"/>
          <p:cNvSpPr/>
          <p:nvPr/>
        </p:nvSpPr>
        <p:spPr>
          <a:xfrm>
            <a:off x="2423160" y="3977640"/>
            <a:ext cx="1417320" cy="502920"/>
          </a:xfrm>
          <a:prstGeom prst="roundRect">
            <a:avLst>
              <a:gd fmla="val 9091" name="adj"/>
            </a:avLst>
          </a:prstGeom>
          <a:solidFill>
            <a:srgbClr val="20264B"/>
          </a:solidFill>
          <a:ln cap="flat" cmpd="sng" w="12700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2423160" y="397764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AI Agent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3840480" y="422910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C9D4F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" name="Google Shape;25;p3"/>
          <p:cNvSpPr/>
          <p:nvPr/>
        </p:nvSpPr>
        <p:spPr>
          <a:xfrm>
            <a:off x="4206240" y="3977640"/>
            <a:ext cx="1417320" cy="502920"/>
          </a:xfrm>
          <a:prstGeom prst="roundRect">
            <a:avLst>
              <a:gd fmla="val 9091" name="adj"/>
            </a:avLst>
          </a:prstGeom>
          <a:solidFill>
            <a:srgbClr val="20264B"/>
          </a:solidFill>
          <a:ln cap="flat" cmpd="sng" w="12700">
            <a:solidFill>
              <a:srgbClr val="C9D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4206240" y="397764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4F6"/>
                </a:solidFill>
                <a:latin typeface="Calibri"/>
                <a:ea typeface="Calibri"/>
                <a:cs typeface="Calibri"/>
                <a:sym typeface="Calibri"/>
              </a:rPr>
              <a:t>Knowledge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Google Shape;27;p3"/>
          <p:cNvCxnSpPr/>
          <p:nvPr/>
        </p:nvCxnSpPr>
        <p:spPr>
          <a:xfrm>
            <a:off x="5623560" y="422910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C9D4F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" name="Google Shape;28;p3"/>
          <p:cNvSpPr/>
          <p:nvPr/>
        </p:nvSpPr>
        <p:spPr>
          <a:xfrm>
            <a:off x="5989320" y="3977640"/>
            <a:ext cx="1417320" cy="502920"/>
          </a:xfrm>
          <a:prstGeom prst="roundRect">
            <a:avLst>
              <a:gd fmla="val 9091" name="adj"/>
            </a:avLst>
          </a:prstGeom>
          <a:solidFill>
            <a:srgbClr val="20264B"/>
          </a:solidFill>
          <a:ln cap="flat" cmpd="sng" w="12700">
            <a:solidFill>
              <a:srgbClr val="C9D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5989320" y="397764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4F6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PROOF, NOT PROMISES · OFFICIAL N8N CASE STUDIES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3283D"/>
                </a:solidFill>
                <a:latin typeface="Cambria"/>
                <a:ea typeface="Cambria"/>
                <a:cs typeface="Cambria"/>
                <a:sym typeface="Cambria"/>
              </a:rPr>
              <a:t>Who Runs n8n in Production — and What It Saved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20040" y="1170432"/>
            <a:ext cx="4160520" cy="1737360"/>
          </a:xfrm>
          <a:prstGeom prst="roundRect">
            <a:avLst>
              <a:gd fmla="val 3158" name="adj"/>
            </a:avLst>
          </a:prstGeom>
          <a:solidFill>
            <a:srgbClr val="F4F6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02920" y="1280160"/>
            <a:ext cx="3794760" cy="1517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Delivery Hero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A4B7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200 hrs / month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3283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Food-delivery giant, 53,000+ employees. Automated IT account-lockout recovery (~800 requests/mo); lockout time cut from 35 to 20 min. Expanded to offboarding &amp; software-license workflows.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663440" y="1170432"/>
            <a:ext cx="4160520" cy="1737360"/>
          </a:xfrm>
          <a:prstGeom prst="roundRect">
            <a:avLst>
              <a:gd fmla="val 3158" name="adj"/>
            </a:avLst>
          </a:prstGeom>
          <a:solidFill>
            <a:srgbClr val="F4F6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846320" y="1280160"/>
            <a:ext cx="3794760" cy="1517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Vodafone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A4B7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£2.2M / year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3283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Security operations: ingest threat-intel feeds, correlate indicators of compromise across sources, auto-update firewall rules, escalate critical threats to analysts.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20040" y="3072384"/>
            <a:ext cx="4160520" cy="1737360"/>
          </a:xfrm>
          <a:prstGeom prst="roundRect">
            <a:avLst>
              <a:gd fmla="val 3158" name="adj"/>
            </a:avLst>
          </a:prstGeom>
          <a:solidFill>
            <a:srgbClr val="F4F6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02920" y="3182112"/>
            <a:ext cx="3794760" cy="1517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Musixmatch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A4B7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47 eng. days / 4 months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3283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World's largest lyrics platform. Replaced hand-maintained data pipelines, internal reporting scripts and cross-platform integrations — engineers went back to product work.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663440" y="3072384"/>
            <a:ext cx="4160520" cy="1737360"/>
          </a:xfrm>
          <a:prstGeom prst="roundRect">
            <a:avLst>
              <a:gd fmla="val 3158" name="adj"/>
            </a:avLst>
          </a:prstGeom>
          <a:solidFill>
            <a:srgbClr val="F4F6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846320" y="3182112"/>
            <a:ext cx="3794760" cy="1517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The Stepstone Group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A4B7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2 weeks → 2 hours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3283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Job platform running 200+ business-critical data workflows every day. New data-source integration time dropped 25× while meeting data-security requirements.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SAME PATTERNS YOU'LL BUILD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3283D"/>
                </a:solidFill>
                <a:latin typeface="Cambria"/>
                <a:ea typeface="Cambria"/>
                <a:cs typeface="Cambria"/>
                <a:sym typeface="Cambria"/>
              </a:rPr>
              <a:t>Their Automations Map to Today's Use Cases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02920" y="905256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COMPANY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2148840" y="90525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WHAT THEY AUTOMATE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897880" y="90525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SAME PATTERN IN THIS DECK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20040" y="1143000"/>
            <a:ext cx="8503920" cy="777240"/>
          </a:xfrm>
          <a:prstGeom prst="roundRect">
            <a:avLst>
              <a:gd fmla="val 7059" name="adj"/>
            </a:avLst>
          </a:prstGeom>
          <a:solidFill>
            <a:srgbClr val="E7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502920" y="1143000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Vodafone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2148840" y="114300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Alert ingestion → enrich with intel → decide → act (firewall) → escalate to humans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897880" y="1143000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Use Case 1 — your PagerDuty triage is the identical ingest-enrich-decide-act loop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20040" y="2011680"/>
            <a:ext cx="8503920" cy="777240"/>
          </a:xfrm>
          <a:prstGeom prst="roundRect">
            <a:avLst>
              <a:gd fmla="val 7059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502920" y="2011680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Delivery Hero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2148840" y="201168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Employee request → webhook intake → manager approval → automated account actions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897880" y="2011680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Webhook hands-on — request/approval flows are webhook + wait-for-approval patterns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20040" y="2880360"/>
            <a:ext cx="8503920" cy="777240"/>
          </a:xfrm>
          <a:prstGeom prst="roundRect">
            <a:avLst>
              <a:gd fmla="val 7059" name="adj"/>
            </a:avLst>
          </a:prstGeom>
          <a:solidFill>
            <a:srgbClr val="E7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502920" y="2880360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Musixmatch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2148840" y="288036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Scheduled pipelines: collect data, transform, report, sync across platforms + AI steps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897880" y="2880360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Use Case 3 — same schedule-trigger → process → update pattern as the Jira quality bot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20040" y="3749040"/>
            <a:ext cx="8503920" cy="777240"/>
          </a:xfrm>
          <a:prstGeom prst="roundRect">
            <a:avLst>
              <a:gd fmla="val 7059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502920" y="3749040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The Stepstone Group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148840" y="374904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200+ critical workflows maintained by multiple teams, secure &amp; auditable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897880" y="3749040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Collaboration section — at this scale, Git source control + RBAC + environments are mandatory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20040" y="4645152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Sources: n8n.io/case-studies (Delivery Hero, Vodafone, Musixmatch, The Stepstone Group)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CASE DEEP-DIVE 1/3 · IT OPERATIONS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3283D"/>
                </a:solidFill>
                <a:latin typeface="Cambria"/>
                <a:ea typeface="Cambria"/>
                <a:cs typeface="Cambria"/>
                <a:sym typeface="Cambria"/>
              </a:rPr>
              <a:t>Delivery Hero — Account Recovery, One Workflow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320040" y="1024128"/>
            <a:ext cx="2743200" cy="566928"/>
          </a:xfrm>
          <a:prstGeom prst="roundRect">
            <a:avLst>
              <a:gd fmla="val 9677" name="adj"/>
            </a:avLst>
          </a:prstGeom>
          <a:solidFill>
            <a:srgbClr val="FCE8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457200" y="1024128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800 / month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account-lockout requests handled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3200400" y="1024128"/>
            <a:ext cx="2743200" cy="566928"/>
          </a:xfrm>
          <a:prstGeom prst="roundRect">
            <a:avLst>
              <a:gd fmla="val 9677" name="adj"/>
            </a:avLst>
          </a:prstGeom>
          <a:solidFill>
            <a:srgbClr val="FCE8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3337560" y="1024128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35 → 20 min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avg. time an employee stays locked out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080760" y="1024128"/>
            <a:ext cx="2743200" cy="566928"/>
          </a:xfrm>
          <a:prstGeom prst="roundRect">
            <a:avLst>
              <a:gd fmla="val 9677" name="adj"/>
            </a:avLst>
          </a:prstGeom>
          <a:solidFill>
            <a:srgbClr val="FCE8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6217920" y="1024128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5 hours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from first build to production deploy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20040" y="2011680"/>
            <a:ext cx="1627632" cy="77724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320040" y="2011680"/>
            <a:ext cx="16276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Employee Locked 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Okta / Google account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2185416" y="2011680"/>
            <a:ext cx="1627632" cy="77724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185416" y="2011680"/>
            <a:ext cx="16276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n8n Intake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request captured via Jira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050792" y="2011680"/>
            <a:ext cx="1627632" cy="77724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4050792" y="2011680"/>
            <a:ext cx="16276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Manager Approval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wait-for-approval step — IT removed from loop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916168" y="2011680"/>
            <a:ext cx="1627632" cy="77724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5916168" y="2011680"/>
            <a:ext cx="16276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API Calls in Parallel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Okta + Google Workspace restore access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7781544" y="2011680"/>
            <a:ext cx="1316736" cy="77724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7781544" y="2011680"/>
            <a:ext cx="13167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Jira updated, employee notified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6"/>
          <p:cNvCxnSpPr/>
          <p:nvPr/>
        </p:nvCxnSpPr>
        <p:spPr>
          <a:xfrm>
            <a:off x="1947672" y="2400300"/>
            <a:ext cx="237744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" name="Google Shape;98;p6"/>
          <p:cNvCxnSpPr/>
          <p:nvPr/>
        </p:nvCxnSpPr>
        <p:spPr>
          <a:xfrm>
            <a:off x="3813048" y="2400300"/>
            <a:ext cx="237744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" name="Google Shape;99;p6"/>
          <p:cNvCxnSpPr/>
          <p:nvPr/>
        </p:nvCxnSpPr>
        <p:spPr>
          <a:xfrm>
            <a:off x="5678424" y="2400300"/>
            <a:ext cx="237744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" name="Google Shape;100;p6"/>
          <p:cNvCxnSpPr/>
          <p:nvPr/>
        </p:nvCxnSpPr>
        <p:spPr>
          <a:xfrm>
            <a:off x="7543800" y="2400300"/>
            <a:ext cx="237744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" name="Google Shape;101;p6"/>
          <p:cNvSpPr/>
          <p:nvPr/>
        </p:nvSpPr>
        <p:spPr>
          <a:xfrm>
            <a:off x="320040" y="297180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Tool stack:  n8n Enterprise · Okta · Google Workspace · Jira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20040" y="344728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HOW THEY BUILT 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320040" y="3721608"/>
            <a:ext cx="292608" cy="29260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320040" y="37216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704088" y="3703320"/>
            <a:ext cx="1673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Mapped the manual process — IT identity verification was the bottleneck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2487168" y="3721608"/>
            <a:ext cx="292608" cy="29260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2487168" y="37216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2871216" y="3703320"/>
            <a:ext cx="1673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Redesigned it: the direct manager approves, not the IT queue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654296" y="3721608"/>
            <a:ext cx="292608" cy="29260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654296" y="37216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038344" y="3703320"/>
            <a:ext cx="1673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n8n fires Okta, Google &amp; Jira API calls the moment approval lands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821424" y="3721608"/>
            <a:ext cx="292608" cy="29260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821424" y="37216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7205472" y="3703320"/>
            <a:ext cx="1673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Live in 5 hours — then extended to offboarding &amp; license workflows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CASE DEEP-DIVE 2/3 · SECURITY OPERATIONS (SOAR)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3283D"/>
                </a:solidFill>
                <a:latin typeface="Cambria"/>
                <a:ea typeface="Cambria"/>
                <a:cs typeface="Cambria"/>
                <a:sym typeface="Cambria"/>
              </a:rPr>
              <a:t>Vodafone UK — Cybersecurity Automation at Scale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320040" y="1024128"/>
            <a:ext cx="2743200" cy="566928"/>
          </a:xfrm>
          <a:prstGeom prst="roundRect">
            <a:avLst>
              <a:gd fmla="val 9677" name="adj"/>
            </a:avLst>
          </a:prstGeom>
          <a:solidFill>
            <a:srgbClr val="FCE8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457200" y="1024128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33 workflows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launched since Aug 2024 (eng. + CSOC)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3200400" y="1024128"/>
            <a:ext cx="2743200" cy="566928"/>
          </a:xfrm>
          <a:prstGeom prst="roundRect">
            <a:avLst>
              <a:gd fmla="val 9677" name="adj"/>
            </a:avLst>
          </a:prstGeom>
          <a:solidFill>
            <a:srgbClr val="FCE8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3337560" y="1024128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5,000+ person-days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saved; ~£300k continued savings / month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080760" y="1024128"/>
            <a:ext cx="2743200" cy="566928"/>
          </a:xfrm>
          <a:prstGeom prst="roundRect">
            <a:avLst>
              <a:gd fmla="val 9677" name="adj"/>
            </a:avLst>
          </a:prstGeom>
          <a:solidFill>
            <a:srgbClr val="FCE8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6217920" y="1024128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£2.2M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total cost avoided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320040" y="1755648"/>
            <a:ext cx="8503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FLOW A · CRITICAL-FEED MONITORING — every 5 minutes (3–5 billion events/month)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320040" y="1993392"/>
            <a:ext cx="1783080" cy="603504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320040" y="1993392"/>
            <a:ext cx="17830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Log &amp; Data Feeds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SIEM sources, TSA scope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2560320" y="1993392"/>
            <a:ext cx="1783080" cy="603504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2560320" y="1993392"/>
            <a:ext cx="17830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n8n Schedule Check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is every feed alive?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800600" y="1993392"/>
            <a:ext cx="1783080" cy="603504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800600" y="1993392"/>
            <a:ext cx="17830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Auto-Triage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identify the problem area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7040880" y="1993392"/>
            <a:ext cx="1783080" cy="603504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7040880" y="1993392"/>
            <a:ext cx="17830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Ticket Auto-Raised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in the right team's 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7"/>
          <p:cNvCxnSpPr/>
          <p:nvPr/>
        </p:nvCxnSpPr>
        <p:spPr>
          <a:xfrm>
            <a:off x="2103120" y="2295144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9" name="Google Shape;139;p7"/>
          <p:cNvCxnSpPr/>
          <p:nvPr/>
        </p:nvCxnSpPr>
        <p:spPr>
          <a:xfrm>
            <a:off x="4343400" y="2295144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0" name="Google Shape;140;p7"/>
          <p:cNvCxnSpPr/>
          <p:nvPr/>
        </p:nvCxnSpPr>
        <p:spPr>
          <a:xfrm>
            <a:off x="6583680" y="2295144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1" name="Google Shape;141;p7"/>
          <p:cNvSpPr/>
          <p:nvPr/>
        </p:nvSpPr>
        <p:spPr>
          <a:xfrm>
            <a:off x="320040" y="2743200"/>
            <a:ext cx="8503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FLOW B · THREAT-INTEL SOAR — reusable modules shared across teams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320040" y="2980944"/>
            <a:ext cx="1783080" cy="603504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320040" y="2980944"/>
            <a:ext cx="17830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Threat-Intel Feeds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multiple sources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2560320" y="2980944"/>
            <a:ext cx="1783080" cy="603504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2560320" y="2980944"/>
            <a:ext cx="17830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Correlate IoCs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indicators of compromise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800600" y="2980944"/>
            <a:ext cx="1783080" cy="603504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4800600" y="2980944"/>
            <a:ext cx="17830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Update Firewall Rules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automatic response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7040880" y="2980944"/>
            <a:ext cx="1783080" cy="603504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7040880" y="2980944"/>
            <a:ext cx="17830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Escalate Criticals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to CSOC analysts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7"/>
          <p:cNvCxnSpPr/>
          <p:nvPr/>
        </p:nvCxnSpPr>
        <p:spPr>
          <a:xfrm>
            <a:off x="2103120" y="3282696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1" name="Google Shape;151;p7"/>
          <p:cNvCxnSpPr/>
          <p:nvPr/>
        </p:nvCxnSpPr>
        <p:spPr>
          <a:xfrm>
            <a:off x="4343400" y="3282696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2" name="Google Shape;152;p7"/>
          <p:cNvCxnSpPr/>
          <p:nvPr/>
        </p:nvCxnSpPr>
        <p:spPr>
          <a:xfrm>
            <a:off x="6583680" y="3282696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3" name="Google Shape;153;p7"/>
          <p:cNvSpPr/>
          <p:nvPr/>
        </p:nvSpPr>
        <p:spPr>
          <a:xfrm>
            <a:off x="320040" y="372160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HOW THEY BUILT 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20040" y="3995928"/>
            <a:ext cx="292608" cy="29260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320040" y="39959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704088" y="3977640"/>
            <a:ext cx="1673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Ran PoCs with IBM Resilient &amp; Tines — chose n8n: SOAR + workflows in one tool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2487168" y="3995928"/>
            <a:ext cx="292608" cy="29260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2487168" y="39959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2871216" y="3977640"/>
            <a:ext cx="1673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Modular design — reusable modules (e.g. email) shared across teams via a repo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654296" y="3995928"/>
            <a:ext cx="292608" cy="29260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4654296" y="39959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038344" y="3977640"/>
            <a:ext cx="1673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Full CI/CD with n8n environments: build → test → deploy, with version control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821424" y="3995928"/>
            <a:ext cx="292608" cy="29260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6821424" y="39959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7205472" y="3977640"/>
            <a:ext cx="1673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Partner (Bounteous) accelerated delivery; next step: Agentic SOC with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CASE DEEP-DIVE 3/3 · DATA SELF-SERVICE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3283D"/>
                </a:solidFill>
                <a:latin typeface="Cambria"/>
                <a:ea typeface="Cambria"/>
                <a:cs typeface="Cambria"/>
                <a:sym typeface="Cambria"/>
              </a:rPr>
              <a:t>Musixmatch — Self-Service Data for Every Team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20040" y="1024128"/>
            <a:ext cx="2743200" cy="566928"/>
          </a:xfrm>
          <a:prstGeom prst="roundRect">
            <a:avLst>
              <a:gd fmla="val 9677" name="adj"/>
            </a:avLst>
          </a:prstGeom>
          <a:solidFill>
            <a:srgbClr val="FCE8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457200" y="1024128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15 seconds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to fulfil a client data request (was: eng. queue)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3200400" y="1024128"/>
            <a:ext cx="2743200" cy="566928"/>
          </a:xfrm>
          <a:prstGeom prst="roundRect">
            <a:avLst>
              <a:gd fmla="val 9677" name="adj"/>
            </a:avLst>
          </a:prstGeom>
          <a:solidFill>
            <a:srgbClr val="FCE8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3337560" y="1024128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47 days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engineering time saved in 4 months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080760" y="1024128"/>
            <a:ext cx="2743200" cy="566928"/>
          </a:xfrm>
          <a:prstGeom prst="roundRect">
            <a:avLst>
              <a:gd fmla="val 9677" name="adj"/>
            </a:avLst>
          </a:prstGeom>
          <a:solidFill>
            <a:srgbClr val="FCE8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6217920" y="1024128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27 modules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custom workflow modules in the internal library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320040" y="2011680"/>
            <a:ext cx="1627632" cy="77724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320040" y="2011680"/>
            <a:ext cx="16276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Client Data Request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e.g. Spotify, Apple Music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185416" y="2011680"/>
            <a:ext cx="1627632" cy="77724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2185416" y="2011680"/>
            <a:ext cx="16276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Module Library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non-tech staff pick a module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050792" y="2011680"/>
            <a:ext cx="1627632" cy="77724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4050792" y="2011680"/>
            <a:ext cx="16276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n8n Runs the Module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wraps internal APIs safely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5916168" y="2011680"/>
            <a:ext cx="1627632" cy="77724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5916168" y="2011680"/>
            <a:ext cx="16276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Fetch &amp; Transform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e.g. lyrics script-switch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7781544" y="2011680"/>
            <a:ext cx="1316736" cy="77724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7781544" y="2011680"/>
            <a:ext cx="13167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Result Returned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to the requester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8"/>
          <p:cNvCxnSpPr/>
          <p:nvPr/>
        </p:nvCxnSpPr>
        <p:spPr>
          <a:xfrm>
            <a:off x="1947672" y="2400300"/>
            <a:ext cx="237744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1" name="Google Shape;191;p8"/>
          <p:cNvCxnSpPr/>
          <p:nvPr/>
        </p:nvCxnSpPr>
        <p:spPr>
          <a:xfrm>
            <a:off x="3813048" y="2400300"/>
            <a:ext cx="237744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2" name="Google Shape;192;p8"/>
          <p:cNvCxnSpPr/>
          <p:nvPr/>
        </p:nvCxnSpPr>
        <p:spPr>
          <a:xfrm>
            <a:off x="5678424" y="2400300"/>
            <a:ext cx="237744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3" name="Google Shape;193;p8"/>
          <p:cNvCxnSpPr/>
          <p:nvPr/>
        </p:nvCxnSpPr>
        <p:spPr>
          <a:xfrm>
            <a:off x="7543800" y="2400300"/>
            <a:ext cx="237744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4" name="Google Shape;194;p8"/>
          <p:cNvSpPr/>
          <p:nvPr/>
        </p:nvSpPr>
        <p:spPr>
          <a:xfrm>
            <a:off x="320040" y="297180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Tool stack:  n8n Enterprise · internal data APIs · per-team n8n projects · dev + prod environments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320040" y="344728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HOW THEY BUILT 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20040" y="3721608"/>
            <a:ext cx="292608" cy="29260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320040" y="37216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704088" y="3703320"/>
            <a:ext cx="1673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2 weeks: internal + production environments, per-team projects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2487168" y="3721608"/>
            <a:ext cx="292608" cy="29260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2487168" y="37216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2871216" y="3703320"/>
            <a:ext cx="1673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Built a custom module library wrapping the internal data APIs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654296" y="3721608"/>
            <a:ext cx="292608" cy="29260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4654296" y="37216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5038344" y="3703320"/>
            <a:ext cx="1673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Non-technical staff self-serve — no access to the raw data stack needed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821424" y="3721608"/>
            <a:ext cx="292608" cy="292608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6821424" y="37216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7205472" y="3703320"/>
            <a:ext cx="16733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Now 27 modules + an internal academy so every team builds their own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USE CASE 1 · REQUESTED BY ALEX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3283D"/>
                </a:solidFill>
                <a:latin typeface="Cambria"/>
                <a:ea typeface="Cambria"/>
                <a:cs typeface="Cambria"/>
                <a:sym typeface="Cambria"/>
              </a:rPr>
              <a:t>AI Incident Triage for PagerDuty Alert Emails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320040" y="1371600"/>
            <a:ext cx="1517904" cy="749808"/>
          </a:xfrm>
          <a:prstGeom prst="roundRect">
            <a:avLst>
              <a:gd fmla="val 6098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320040" y="1371600"/>
            <a:ext cx="1517904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PagerDuty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alert email arrives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2066544" y="1371600"/>
            <a:ext cx="1517904" cy="749808"/>
          </a:xfrm>
          <a:prstGeom prst="roundRect">
            <a:avLst>
              <a:gd fmla="val 6098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2066544" y="1371600"/>
            <a:ext cx="1517904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Outlook Trigger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real-time inbox listener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3813048" y="1371600"/>
            <a:ext cx="1517904" cy="749808"/>
          </a:xfrm>
          <a:prstGeom prst="roundRect">
            <a:avLst>
              <a:gd fmla="val 6098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3813048" y="1371600"/>
            <a:ext cx="1517904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AI: Extract Fields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type · severity · service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559552" y="1371600"/>
            <a:ext cx="1517904" cy="749808"/>
          </a:xfrm>
          <a:prstGeom prst="roundRect">
            <a:avLst>
              <a:gd fmla="val 6098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5559552" y="1371600"/>
            <a:ext cx="1517904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RAG: Find Runbook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Confluence vector search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7306056" y="1371600"/>
            <a:ext cx="1517904" cy="749808"/>
          </a:xfrm>
          <a:prstGeom prst="roundRect">
            <a:avLst>
              <a:gd fmla="val 6098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7306056" y="1371600"/>
            <a:ext cx="1517904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AI: Decide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act now vs. follow-up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9"/>
          <p:cNvCxnSpPr/>
          <p:nvPr/>
        </p:nvCxnSpPr>
        <p:spPr>
          <a:xfrm>
            <a:off x="1837944" y="1746504"/>
            <a:ext cx="2286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7" name="Google Shape;227;p9"/>
          <p:cNvCxnSpPr/>
          <p:nvPr/>
        </p:nvCxnSpPr>
        <p:spPr>
          <a:xfrm>
            <a:off x="3584448" y="1746504"/>
            <a:ext cx="2286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" name="Google Shape;228;p9"/>
          <p:cNvCxnSpPr/>
          <p:nvPr/>
        </p:nvCxnSpPr>
        <p:spPr>
          <a:xfrm>
            <a:off x="5330952" y="1746504"/>
            <a:ext cx="2286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9" name="Google Shape;229;p9"/>
          <p:cNvCxnSpPr/>
          <p:nvPr/>
        </p:nvCxnSpPr>
        <p:spPr>
          <a:xfrm>
            <a:off x="7077456" y="1746504"/>
            <a:ext cx="2286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0" name="Google Shape;230;p9"/>
          <p:cNvSpPr/>
          <p:nvPr/>
        </p:nvSpPr>
        <p:spPr>
          <a:xfrm>
            <a:off x="2651760" y="2880360"/>
            <a:ext cx="2468880" cy="73152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2651760" y="288036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IMMEDIATE → P1 Jira ticket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+ Teams alert to on-call, with runbook link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5760720" y="2880360"/>
            <a:ext cx="2468880" cy="73152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5760720" y="2880360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FOLLOW-UP → backlog ticket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included in daily digest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p9"/>
          <p:cNvCxnSpPr/>
          <p:nvPr/>
        </p:nvCxnSpPr>
        <p:spPr>
          <a:xfrm flipH="1">
            <a:off x="3886200" y="2121408"/>
            <a:ext cx="4178808" cy="758952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" name="Google Shape;235;p9"/>
          <p:cNvCxnSpPr/>
          <p:nvPr/>
        </p:nvCxnSpPr>
        <p:spPr>
          <a:xfrm flipH="1">
            <a:off x="6995160" y="2121408"/>
            <a:ext cx="1069848" cy="758952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6" name="Google Shape;236;p9"/>
          <p:cNvSpPr/>
          <p:nvPr/>
        </p:nvSpPr>
        <p:spPr>
          <a:xfrm>
            <a:off x="320040" y="3886200"/>
            <a:ext cx="8503920" cy="868680"/>
          </a:xfrm>
          <a:prstGeom prst="roundRect">
            <a:avLst>
              <a:gd fmla="val 6316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502920" y="3886200"/>
            <a:ext cx="8138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Nodes:  </a:t>
            </a:r>
            <a:r>
              <a:rPr b="0" i="0" lang="en-US" sz="10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Outlook Trigger · AI Agent · Embeddings + Vector Store (Azure AI Search / Qdrant) · Jira · Teams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Value:  </a:t>
            </a:r>
            <a:r>
              <a:rPr b="0" i="0" lang="en-US" sz="10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key fields extracted automatically; on-call engineer gets the matching runbook in seconds instead of searching Confluence at 3 a.m.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USE CASE 2 · REQUESTED BY JACK &amp; ANDY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3283D"/>
                </a:solidFill>
                <a:latin typeface="Cambria"/>
                <a:ea typeface="Cambria"/>
                <a:cs typeface="Cambria"/>
                <a:sym typeface="Cambria"/>
              </a:rPr>
              <a:t>Knowledge-Base RAG Agent over Confluence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320040" y="111556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PIPELINE 1 · INGEST — runs on a schedule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320040" y="1389888"/>
            <a:ext cx="1783080" cy="713232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320040" y="1389888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Confluence Pages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SharePoint / PDFs too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2560320" y="1389888"/>
            <a:ext cx="1783080" cy="713232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2560320" y="1389888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Chunk &amp; Clean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split into passages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800600" y="1389888"/>
            <a:ext cx="1783080" cy="713232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4800600" y="1389888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OpenAI / Azure OpenAI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7040880" y="1389888"/>
            <a:ext cx="1783080" cy="713232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7040880" y="1389888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Vector Store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Azure AI Search / Qdrant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0"/>
          <p:cNvCxnSpPr/>
          <p:nvPr/>
        </p:nvCxnSpPr>
        <p:spPr>
          <a:xfrm>
            <a:off x="2103120" y="1746504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6" name="Google Shape;256;p10"/>
          <p:cNvCxnSpPr/>
          <p:nvPr/>
        </p:nvCxnSpPr>
        <p:spPr>
          <a:xfrm>
            <a:off x="4343400" y="1746504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" name="Google Shape;257;p10"/>
          <p:cNvCxnSpPr/>
          <p:nvPr/>
        </p:nvCxnSpPr>
        <p:spPr>
          <a:xfrm>
            <a:off x="6583680" y="1746504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8" name="Google Shape;258;p10"/>
          <p:cNvSpPr/>
          <p:nvPr/>
        </p:nvSpPr>
        <p:spPr>
          <a:xfrm>
            <a:off x="320040" y="248716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PIPELINE 2 · QUERY — chat trigger, on demand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320040" y="2761488"/>
            <a:ext cx="1783080" cy="713232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320040" y="2761488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Question Arrives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Teams / chat / webhook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2560320" y="2761488"/>
            <a:ext cx="1783080" cy="713232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2560320" y="2761488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AI 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decides to search KB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4800600" y="2761488"/>
            <a:ext cx="1783080" cy="713232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4800600" y="2761488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Vector Search Tool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top-k relevant passages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7040880" y="2761488"/>
            <a:ext cx="1783080" cy="713232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7040880" y="2761488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Grounded Answer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with source page links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10"/>
          <p:cNvCxnSpPr/>
          <p:nvPr/>
        </p:nvCxnSpPr>
        <p:spPr>
          <a:xfrm>
            <a:off x="2103120" y="3118104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" name="Google Shape;268;p10"/>
          <p:cNvCxnSpPr/>
          <p:nvPr/>
        </p:nvCxnSpPr>
        <p:spPr>
          <a:xfrm>
            <a:off x="4343400" y="3118104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9" name="Google Shape;269;p10"/>
          <p:cNvCxnSpPr/>
          <p:nvPr/>
        </p:nvCxnSpPr>
        <p:spPr>
          <a:xfrm>
            <a:off x="6583680" y="3118104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0" name="Google Shape;270;p10"/>
          <p:cNvCxnSpPr/>
          <p:nvPr/>
        </p:nvCxnSpPr>
        <p:spPr>
          <a:xfrm flipH="1">
            <a:off x="5687568" y="2103120"/>
            <a:ext cx="2240280" cy="658368"/>
          </a:xfrm>
          <a:prstGeom prst="straightConnector1">
            <a:avLst/>
          </a:prstGeom>
          <a:noFill/>
          <a:ln cap="flat" cmpd="sng" w="15875">
            <a:solidFill>
              <a:srgbClr val="0E7C86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71" name="Google Shape;271;p10"/>
          <p:cNvSpPr/>
          <p:nvPr/>
        </p:nvSpPr>
        <p:spPr>
          <a:xfrm>
            <a:off x="320040" y="3886200"/>
            <a:ext cx="8503920" cy="868680"/>
          </a:xfrm>
          <a:prstGeom prst="roundRect">
            <a:avLst>
              <a:gd fmla="val 6316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502920" y="3886200"/>
            <a:ext cx="8138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Why RAG, not plain LLM:  </a:t>
            </a:r>
            <a:r>
              <a:rPr b="0" i="0" lang="en-US" sz="10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answers come from YOUR documents, stay current when pages change, and cite sources.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Session 2:  </a:t>
            </a:r>
            <a:r>
              <a:rPr b="0" i="0" lang="en-US" sz="10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we build exactly this — Azure AI Search vector index + Jira IT-support RAG agent (see agenda).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USE CASE 3 · REQUESTED BY VICTOR &amp; JAMES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3283D"/>
                </a:solidFill>
                <a:latin typeface="Cambria"/>
                <a:ea typeface="Cambria"/>
                <a:cs typeface="Cambria"/>
                <a:sym typeface="Cambria"/>
              </a:rPr>
              <a:t>Jira Automation: AI Q&amp;A + Data-Quality Bot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320040" y="111556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FLOW A · TICKET Q&amp;A AGENT — ask questions about your Jira in plain language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320040" y="1389888"/>
            <a:ext cx="1783080" cy="713232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320040" y="1389888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Chat / Teams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“what's blocking PROJ-42?”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2560320" y="1389888"/>
            <a:ext cx="1783080" cy="713232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2560320" y="1389888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AI Agent + Jira Tool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agent calls Jira itself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4800600" y="1389888"/>
            <a:ext cx="1783080" cy="713232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4800600" y="1389888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Search &amp; Read Tickets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JQL, comments, links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7040880" y="1389888"/>
            <a:ext cx="1783080" cy="713232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7040880" y="1389888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Specific Answer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status, owner, next step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p11"/>
          <p:cNvCxnSpPr/>
          <p:nvPr/>
        </p:nvCxnSpPr>
        <p:spPr>
          <a:xfrm>
            <a:off x="2103120" y="1746504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" name="Google Shape;291;p11"/>
          <p:cNvCxnSpPr/>
          <p:nvPr/>
        </p:nvCxnSpPr>
        <p:spPr>
          <a:xfrm>
            <a:off x="4343400" y="1746504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2" name="Google Shape;292;p11"/>
          <p:cNvCxnSpPr/>
          <p:nvPr/>
        </p:nvCxnSpPr>
        <p:spPr>
          <a:xfrm>
            <a:off x="6583680" y="1746504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3" name="Google Shape;293;p11"/>
          <p:cNvSpPr/>
          <p:nvPr/>
        </p:nvSpPr>
        <p:spPr>
          <a:xfrm>
            <a:off x="320040" y="248716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FLOW B · DATA-QUALITY BOT — runs periodically, no human trigger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320040" y="2761488"/>
            <a:ext cx="1783080" cy="713232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320040" y="2761488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Schedule Trigger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e.g. every morning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2560320" y="2761488"/>
            <a:ext cx="1783080" cy="713232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2560320" y="2761488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Find Incomplete Tickets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missing fields via JQL filter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4800600" y="2761488"/>
            <a:ext cx="1783080" cy="713232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4800600" y="2761488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AI Drafts the Values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from summary + comments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7040880" y="2761488"/>
            <a:ext cx="1783080" cy="713232"/>
          </a:xfrm>
          <a:prstGeom prst="roundRect">
            <a:avLst>
              <a:gd fmla="val 6410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7040880" y="2761488"/>
            <a:ext cx="1783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Update + Notify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fill fields, ping the owner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11"/>
          <p:cNvCxnSpPr/>
          <p:nvPr/>
        </p:nvCxnSpPr>
        <p:spPr>
          <a:xfrm>
            <a:off x="2103120" y="3118104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3" name="Google Shape;303;p11"/>
          <p:cNvCxnSpPr/>
          <p:nvPr/>
        </p:nvCxnSpPr>
        <p:spPr>
          <a:xfrm>
            <a:off x="4343400" y="3118104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4" name="Google Shape;304;p11"/>
          <p:cNvCxnSpPr/>
          <p:nvPr/>
        </p:nvCxnSpPr>
        <p:spPr>
          <a:xfrm>
            <a:off x="6583680" y="3118104"/>
            <a:ext cx="4572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5" name="Google Shape;305;p11"/>
          <p:cNvSpPr/>
          <p:nvPr/>
        </p:nvSpPr>
        <p:spPr>
          <a:xfrm>
            <a:off x="320040" y="3886200"/>
            <a:ext cx="8503920" cy="868680"/>
          </a:xfrm>
          <a:prstGeom prst="roundRect">
            <a:avLst>
              <a:gd fmla="val 6316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502920" y="3886200"/>
            <a:ext cx="8138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James's variant:  </a:t>
            </a:r>
            <a:r>
              <a:rPr b="0" i="0" lang="en-US" sz="10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Jira automation → n8n → Teams bot: ticket events trigger n8n, which posts interactive updates into Teams (pattern on the next slide).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Governance tip:  </a:t>
            </a:r>
            <a:r>
              <a:rPr b="0" i="0" lang="en-US" sz="10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let AI DRAFT field values and post them as a comment first; auto-apply only after the team trusts the accuracy.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USE CASE 4 · REQUESTED BY JAMES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3283D"/>
                </a:solidFill>
                <a:latin typeface="Cambria"/>
                <a:ea typeface="Cambria"/>
                <a:cs typeface="Cambria"/>
                <a:sym typeface="Cambria"/>
              </a:rPr>
              <a:t>MS Teams Bot ↔ n8n: Three Integration Patterns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320040" y="1143000"/>
            <a:ext cx="2624328" cy="1965960"/>
          </a:xfrm>
          <a:prstGeom prst="roundRect">
            <a:avLst>
              <a:gd fmla="val 2791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484632" y="1271016"/>
            <a:ext cx="2295144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1 · Incoming Webhook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A4B7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n8n  →  Teams (one-way)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Post cards / alerts into a channel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5-minute setup, no bot registration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Best for: notifications &amp; digests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3264408" y="1143000"/>
            <a:ext cx="2624328" cy="1965960"/>
          </a:xfrm>
          <a:prstGeom prst="roundRect">
            <a:avLst>
              <a:gd fmla="val 2791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3429000" y="1271016"/>
            <a:ext cx="2295144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2 · Outgoing Webhook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A4B7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Teams  →  n8n (@mention)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@mention bot → HTTPS POST to n8n Webhook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Validate HMAC security token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Must reply within 5 seconds (see below)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6208776" y="1143000"/>
            <a:ext cx="2624328" cy="1965960"/>
          </a:xfrm>
          <a:prstGeom prst="roundRect">
            <a:avLst>
              <a:gd fmla="val 2791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6373368" y="1271016"/>
            <a:ext cx="2295144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3 · Azure Bot + Graph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A4B7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Full two-way conversation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Real bot: DMs, proactive messages, cards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Needs Entra ID app registration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Best for: production customer-facing bots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320040" y="331012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PATTERN 2 IN DETAIL — the classic interactive bot 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320040" y="3584448"/>
            <a:ext cx="1517904" cy="658368"/>
          </a:xfrm>
          <a:prstGeom prst="roundRect">
            <a:avLst>
              <a:gd fmla="val 6944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320040" y="3584448"/>
            <a:ext cx="15179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@mention bot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in a Teams channel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2066544" y="3584448"/>
            <a:ext cx="1517904" cy="658368"/>
          </a:xfrm>
          <a:prstGeom prst="roundRect">
            <a:avLst>
              <a:gd fmla="val 6944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2066544" y="3584448"/>
            <a:ext cx="15179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Teams POSTs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payload + HMAC header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3813048" y="3584448"/>
            <a:ext cx="1517904" cy="658368"/>
          </a:xfrm>
          <a:prstGeom prst="roundRect">
            <a:avLst>
              <a:gd fmla="val 6944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3813048" y="3584448"/>
            <a:ext cx="15179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n8n Webhook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verify token first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5559552" y="3584448"/>
            <a:ext cx="1517904" cy="658368"/>
          </a:xfrm>
          <a:prstGeom prst="roundRect">
            <a:avLst>
              <a:gd fmla="val 6944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5559552" y="3584448"/>
            <a:ext cx="15179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AI 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compose the reply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7306056" y="3584448"/>
            <a:ext cx="1517904" cy="658368"/>
          </a:xfrm>
          <a:prstGeom prst="roundRect">
            <a:avLst>
              <a:gd fmla="val 6944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7306056" y="3584448"/>
            <a:ext cx="15179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Respond ≤ 5 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or ack + follow-up msg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" name="Google Shape;332;p12"/>
          <p:cNvCxnSpPr/>
          <p:nvPr/>
        </p:nvCxnSpPr>
        <p:spPr>
          <a:xfrm>
            <a:off x="1837944" y="3913632"/>
            <a:ext cx="2286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3" name="Google Shape;333;p12"/>
          <p:cNvCxnSpPr/>
          <p:nvPr/>
        </p:nvCxnSpPr>
        <p:spPr>
          <a:xfrm>
            <a:off x="3584448" y="3913632"/>
            <a:ext cx="2286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4" name="Google Shape;334;p12"/>
          <p:cNvCxnSpPr/>
          <p:nvPr/>
        </p:nvCxnSpPr>
        <p:spPr>
          <a:xfrm>
            <a:off x="5330952" y="3913632"/>
            <a:ext cx="2286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5" name="Google Shape;335;p12"/>
          <p:cNvCxnSpPr/>
          <p:nvPr/>
        </p:nvCxnSpPr>
        <p:spPr>
          <a:xfrm>
            <a:off x="7077456" y="3913632"/>
            <a:ext cx="2286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6" name="Google Shape;336;p12"/>
          <p:cNvSpPr/>
          <p:nvPr/>
        </p:nvSpPr>
        <p:spPr>
          <a:xfrm>
            <a:off x="320040" y="443484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5-second timeout workaround: reply instantly with “working on it…”, then send the full AI answer via incoming webhook / Graph API.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HANDS-ON · REQUESTED BY ANDY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3283D"/>
                </a:solidFill>
                <a:latin typeface="Cambria"/>
                <a:ea typeface="Cambria"/>
                <a:cs typeface="Cambria"/>
                <a:sym typeface="Cambria"/>
              </a:rPr>
              <a:t>Webhook Integration: Anatomy + 3 Worked Examples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320040" y="1170432"/>
            <a:ext cx="1920240" cy="621792"/>
          </a:xfrm>
          <a:prstGeom prst="roundRect">
            <a:avLst>
              <a:gd fmla="val 7353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320040" y="1170432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External 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GitHub, form, monitor…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2514600" y="1170432"/>
            <a:ext cx="1920240" cy="621792"/>
          </a:xfrm>
          <a:prstGeom prst="roundRect">
            <a:avLst>
              <a:gd fmla="val 7353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2514600" y="1170432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n8n Webhook Node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unique HTTPS URL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4709160" y="1170432"/>
            <a:ext cx="1920240" cy="621792"/>
          </a:xfrm>
          <a:prstGeom prst="roundRect">
            <a:avLst>
              <a:gd fmla="val 7353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4709160" y="1170432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transform · AI · route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6903720" y="1170432"/>
            <a:ext cx="1920240" cy="621792"/>
          </a:xfrm>
          <a:prstGeom prst="roundRect">
            <a:avLst>
              <a:gd fmla="val 7353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6903720" y="1170432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Respond to Webhook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status + JSON body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p13"/>
          <p:cNvCxnSpPr/>
          <p:nvPr/>
        </p:nvCxnSpPr>
        <p:spPr>
          <a:xfrm>
            <a:off x="2240280" y="1481328"/>
            <a:ext cx="27432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4" name="Google Shape;354;p13"/>
          <p:cNvCxnSpPr/>
          <p:nvPr/>
        </p:nvCxnSpPr>
        <p:spPr>
          <a:xfrm>
            <a:off x="4434840" y="1481328"/>
            <a:ext cx="27432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5" name="Google Shape;355;p13"/>
          <p:cNvCxnSpPr/>
          <p:nvPr/>
        </p:nvCxnSpPr>
        <p:spPr>
          <a:xfrm>
            <a:off x="6629400" y="1481328"/>
            <a:ext cx="27432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6" name="Google Shape;356;p13"/>
          <p:cNvSpPr/>
          <p:nvPr/>
        </p:nvSpPr>
        <p:spPr>
          <a:xfrm>
            <a:off x="320040" y="2057400"/>
            <a:ext cx="2624328" cy="1417320"/>
          </a:xfrm>
          <a:prstGeom prst="roundRect">
            <a:avLst>
              <a:gd fmla="val 3871" name="adj"/>
            </a:avLst>
          </a:prstGeom>
          <a:solidFill>
            <a:srgbClr val="E7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484632" y="2167128"/>
            <a:ext cx="2295144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A · GitHub → Teams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Push / PR event fires webhook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Format commit summary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Post to team channel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3264408" y="2057400"/>
            <a:ext cx="2624328" cy="1417320"/>
          </a:xfrm>
          <a:prstGeom prst="roundRect">
            <a:avLst>
              <a:gd fmla="val 3871" name="adj"/>
            </a:avLst>
          </a:prstGeom>
          <a:solidFill>
            <a:srgbClr val="E7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3429000" y="2167128"/>
            <a:ext cx="2295144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B · Web Form → CRM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Form POSTs the new lead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Validate + enrich with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Create CRM record, email reply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6208776" y="2057400"/>
            <a:ext cx="2624328" cy="1417320"/>
          </a:xfrm>
          <a:prstGeom prst="roundRect">
            <a:avLst>
              <a:gd fmla="val 3871" name="adj"/>
            </a:avLst>
          </a:prstGeom>
          <a:solidFill>
            <a:srgbClr val="E7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6373368" y="2167128"/>
            <a:ext cx="2295144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C · Alert → Triage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PagerDuty / Grafana webhook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Feeds Use Case 1 directly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Webhook beats email polling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320040" y="3749040"/>
            <a:ext cx="365760" cy="365760"/>
          </a:xfrm>
          <a:prstGeom prst="ellipse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3" name="Google Shape;3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38404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3"/>
          <p:cNvSpPr/>
          <p:nvPr/>
        </p:nvSpPr>
        <p:spPr>
          <a:xfrm>
            <a:off x="795528" y="3730752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Test vs Production URL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Test URL listens once &amp; shows data in the editor; Production needs the workflow Active.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3264408" y="3749040"/>
            <a:ext cx="365760" cy="365760"/>
          </a:xfrm>
          <a:prstGeom prst="ellipse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5848" y="38404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3"/>
          <p:cNvSpPr/>
          <p:nvPr/>
        </p:nvSpPr>
        <p:spPr>
          <a:xfrm>
            <a:off x="3739896" y="3730752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Local dev? Use ngrok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Expose localhost at https://xxx.ngrok-free.dev so external services can reach you.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6208776" y="3749040"/>
            <a:ext cx="365760" cy="365760"/>
          </a:xfrm>
          <a:prstGeom prst="ellipse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9" name="Google Shape;36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0216" y="38404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3"/>
          <p:cNvSpPr/>
          <p:nvPr/>
        </p:nvSpPr>
        <p:spPr>
          <a:xfrm>
            <a:off x="6684264" y="3730752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Never leave it open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Add header auth or HMAC signature check — webhook URLs are guessable.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OPERATIONS · ASKED BY JAMES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3283D"/>
                </a:solidFill>
                <a:latin typeface="Cambria"/>
                <a:ea typeface="Cambria"/>
                <a:cs typeface="Cambria"/>
                <a:sym typeface="Cambria"/>
              </a:rPr>
              <a:t>Multi-User Workflow Collaboration, Done Safely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320040" y="1143000"/>
            <a:ext cx="4160520" cy="3566160"/>
          </a:xfrm>
          <a:prstGeom prst="roundRect">
            <a:avLst>
              <a:gd fmla="val 1538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502920" y="129844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WHAT N8N GIVES YOU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1" name="Google Shape;38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166420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4"/>
          <p:cNvSpPr/>
          <p:nvPr/>
        </p:nvSpPr>
        <p:spPr>
          <a:xfrm>
            <a:off x="822960" y="1627632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Projects + RBAC — </a:t>
            </a:r>
            <a:r>
              <a:rPr b="0" i="0" lang="en-US" sz="10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group workflows by team; viewer / editor / admin roles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3" name="Google Shape;3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22677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4"/>
          <p:cNvSpPr/>
          <p:nvPr/>
        </p:nvSpPr>
        <p:spPr>
          <a:xfrm>
            <a:off x="822960" y="2231136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Git source control — </a:t>
            </a:r>
            <a:r>
              <a:rPr b="0" i="0" lang="en-US" sz="10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link each instance to a Git branch; push / pull changes (Business &amp; Enterprise plans)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5" name="Google Shape;3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287121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4"/>
          <p:cNvSpPr/>
          <p:nvPr/>
        </p:nvSpPr>
        <p:spPr>
          <a:xfrm>
            <a:off x="822960" y="2834640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Environments — </a:t>
            </a:r>
            <a:r>
              <a:rPr b="0" i="0" lang="en-US" sz="10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dev → staging → prod as separate instances on separate branches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7" name="Google Shape;3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34747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4"/>
          <p:cNvSpPr/>
          <p:nvPr/>
        </p:nvSpPr>
        <p:spPr>
          <a:xfrm>
            <a:off x="822960" y="3438144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Workflow history — </a:t>
            </a:r>
            <a:r>
              <a:rPr b="0" i="0" lang="en-US" sz="105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see previous versions and roll back inside the editor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530352" y="4114800"/>
            <a:ext cx="1097280" cy="457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4"/>
          <p:cNvSpPr/>
          <p:nvPr/>
        </p:nvSpPr>
        <p:spPr>
          <a:xfrm>
            <a:off x="530352" y="41148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Dev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1856232" y="4114800"/>
            <a:ext cx="1097280" cy="457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1856232" y="41148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Git repo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3182112" y="4114800"/>
            <a:ext cx="1097280" cy="457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3182112" y="41148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Prod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14"/>
          <p:cNvCxnSpPr/>
          <p:nvPr/>
        </p:nvCxnSpPr>
        <p:spPr>
          <a:xfrm>
            <a:off x="1627632" y="4343400"/>
            <a:ext cx="2286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6" name="Google Shape;396;p14"/>
          <p:cNvCxnSpPr/>
          <p:nvPr/>
        </p:nvCxnSpPr>
        <p:spPr>
          <a:xfrm>
            <a:off x="2953512" y="4343400"/>
            <a:ext cx="22860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7" name="Google Shape;397;p14"/>
          <p:cNvSpPr/>
          <p:nvPr/>
        </p:nvSpPr>
        <p:spPr>
          <a:xfrm>
            <a:off x="1536192" y="389534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push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2862072" y="389534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pull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4663440" y="1143000"/>
            <a:ext cx="4160520" cy="3566160"/>
          </a:xfrm>
          <a:prstGeom prst="roundRect">
            <a:avLst>
              <a:gd fmla="val 1538" name="adj"/>
            </a:avLst>
          </a:prstGeom>
          <a:solidFill>
            <a:srgbClr val="FCE8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4846320" y="129844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PRACTICES &amp; PITFALLS (FROM REAL PROJECTS)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1" name="Google Shape;4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3752" y="1655064"/>
            <a:ext cx="173736" cy="173736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4"/>
          <p:cNvSpPr/>
          <p:nvPr/>
        </p:nvSpPr>
        <p:spPr>
          <a:xfrm>
            <a:off x="5148072" y="1627632"/>
            <a:ext cx="35387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No real-time co-editing — </a:t>
            </a: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two people editing = last save wins. Assign one owner per workflow; coordinate in chat before editing.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3" name="Google Shape;4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3752" y="2249424"/>
            <a:ext cx="173736" cy="173736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4"/>
          <p:cNvSpPr/>
          <p:nvPr/>
        </p:nvSpPr>
        <p:spPr>
          <a:xfrm>
            <a:off x="5148072" y="2221992"/>
            <a:ext cx="35387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Review via Git PRs — </a:t>
            </a: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workflows are JSON — diff &amp; review changes like code, roll back when a change breaks prod.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5" name="Google Shape;4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3752" y="2843784"/>
            <a:ext cx="173736" cy="173736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4"/>
          <p:cNvSpPr/>
          <p:nvPr/>
        </p:nvSpPr>
        <p:spPr>
          <a:xfrm>
            <a:off x="5148072" y="2816352"/>
            <a:ext cx="35387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Credentials don't travel — </a:t>
            </a: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Git syncs workflows, NOT credentials or variables — recreate them per environment.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7" name="Google Shape;4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3752" y="3438144"/>
            <a:ext cx="173736" cy="173736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4"/>
          <p:cNvSpPr/>
          <p:nvPr/>
        </p:nvSpPr>
        <p:spPr>
          <a:xfrm>
            <a:off x="5148072" y="3410712"/>
            <a:ext cx="35387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Shared logic → sub-workflows — </a:t>
            </a: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extract common steps; use a naming convention like TEAM-ENV-purpose.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9" name="Google Shape;4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3752" y="4032504"/>
            <a:ext cx="173736" cy="173736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4"/>
          <p:cNvSpPr/>
          <p:nvPr/>
        </p:nvSpPr>
        <p:spPr>
          <a:xfrm>
            <a:off x="5148072" y="4005072"/>
            <a:ext cx="35387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Promote, don't hot-fix — </a:t>
            </a: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always change dev first, test, then pull into prod — never edit prod directly.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5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OPERATIONS · ASKED BY VICTOR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3283D"/>
                </a:solidFill>
                <a:latin typeface="Cambria"/>
                <a:ea typeface="Cambria"/>
                <a:cs typeface="Cambria"/>
                <a:sym typeface="Cambria"/>
              </a:rPr>
              <a:t>Run Workflows 24/7 — Without Your Laptop 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320040" y="1143000"/>
            <a:ext cx="2624328" cy="1783080"/>
          </a:xfrm>
          <a:prstGeom prst="roundRect">
            <a:avLst>
              <a:gd fmla="val 3077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484632" y="1271016"/>
            <a:ext cx="2295144" cy="1527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n8n Cloud   </a:t>
            </a:r>
            <a:r>
              <a:rPr b="1" i="0" lang="en-US" sz="95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easiest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Fully managed by n8n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Zero server maintenance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Best for: fastest path to production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3264408" y="1143000"/>
            <a:ext cx="2624328" cy="1783080"/>
          </a:xfrm>
          <a:prstGeom prst="roundRect">
            <a:avLst>
              <a:gd fmla="val 3077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5"/>
          <p:cNvSpPr/>
          <p:nvPr/>
        </p:nvSpPr>
        <p:spPr>
          <a:xfrm>
            <a:off x="3429000" y="1271016"/>
            <a:ext cx="2295144" cy="1527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Self-Hosted VPS   </a:t>
            </a:r>
            <a:r>
              <a:rPr b="1" i="0" lang="en-US" sz="95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most control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Docker on any cloud VM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Data stays in your tenant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Best for: compliance &amp; cost control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6208776" y="1143000"/>
            <a:ext cx="2624328" cy="1783080"/>
          </a:xfrm>
          <a:prstGeom prst="roundRect">
            <a:avLst>
              <a:gd fmla="val 3077" name="adj"/>
            </a:avLst>
          </a:pr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5"/>
          <p:cNvSpPr/>
          <p:nvPr/>
        </p:nvSpPr>
        <p:spPr>
          <a:xfrm>
            <a:off x="6373368" y="1271016"/>
            <a:ext cx="2295144" cy="1527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Kubernetes + Queue   </a:t>
            </a:r>
            <a:r>
              <a:rPr b="1" i="0" lang="en-US" sz="95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Queue mode: main + workers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Scale workers horizontally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Best for: high-volume enterprise loads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320040" y="312724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VICTOR'S SETUP — OPENWEBUI AS THE CHAT FRONT-END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320040" y="3401568"/>
            <a:ext cx="1920240" cy="621792"/>
          </a:xfrm>
          <a:prstGeom prst="roundRect">
            <a:avLst>
              <a:gd fmla="val 7353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/>
          <p:nvPr/>
        </p:nvSpPr>
        <p:spPr>
          <a:xfrm>
            <a:off x="320040" y="340156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OpenWebUI Chat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user asks a question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2514600" y="3401568"/>
            <a:ext cx="1920240" cy="621792"/>
          </a:xfrm>
          <a:prstGeom prst="roundRect">
            <a:avLst>
              <a:gd fmla="val 7353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2514600" y="340156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n8n Production Webhook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on the 24/7 instance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4709160" y="3401568"/>
            <a:ext cx="1920240" cy="621792"/>
          </a:xfrm>
          <a:prstGeom prst="roundRect">
            <a:avLst>
              <a:gd fmla="val 7353" name="adj"/>
            </a:avLst>
          </a:prstGeom>
          <a:solidFill>
            <a:srgbClr val="FFFFFF"/>
          </a:solidFill>
          <a:ln cap="flat" cmpd="sng" w="15875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4709160" y="340156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AI Agent Workflow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RAG · Jira · tools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6903720" y="3401568"/>
            <a:ext cx="1920240" cy="621792"/>
          </a:xfrm>
          <a:prstGeom prst="roundRect">
            <a:avLst>
              <a:gd fmla="val 7353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6903720" y="340156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Answer Streams Back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into the chat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4" name="Google Shape;434;p15"/>
          <p:cNvCxnSpPr/>
          <p:nvPr/>
        </p:nvCxnSpPr>
        <p:spPr>
          <a:xfrm>
            <a:off x="2240280" y="3712464"/>
            <a:ext cx="27432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5" name="Google Shape;435;p15"/>
          <p:cNvCxnSpPr/>
          <p:nvPr/>
        </p:nvCxnSpPr>
        <p:spPr>
          <a:xfrm>
            <a:off x="4434840" y="3712464"/>
            <a:ext cx="27432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6" name="Google Shape;436;p15"/>
          <p:cNvCxnSpPr/>
          <p:nvPr/>
        </p:nvCxnSpPr>
        <p:spPr>
          <a:xfrm>
            <a:off x="6629400" y="3712464"/>
            <a:ext cx="274320" cy="0"/>
          </a:xfrm>
          <a:prstGeom prst="straightConnector1">
            <a:avLst/>
          </a:prstGeom>
          <a:noFill/>
          <a:ln cap="flat" cmpd="sng" w="2222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7" name="Google Shape;437;p15"/>
          <p:cNvSpPr/>
          <p:nvPr/>
        </p:nvSpPr>
        <p:spPr>
          <a:xfrm>
            <a:off x="320040" y="425196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Migration is trivial: export workflow JSON from your laptop → import to the cloud instance → re-select credentials → activate.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6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PUTTING IT ALL TOGETHER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3283D"/>
                </a:solidFill>
                <a:latin typeface="Cambria"/>
                <a:ea typeface="Cambria"/>
                <a:cs typeface="Cambria"/>
                <a:sym typeface="Cambria"/>
              </a:rPr>
              <a:t>Enterprise Reference Architecture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320040" y="111556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TRIGGERS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320040" y="1371600"/>
            <a:ext cx="1828800" cy="54864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6"/>
          <p:cNvSpPr/>
          <p:nvPr/>
        </p:nvSpPr>
        <p:spPr>
          <a:xfrm>
            <a:off x="320040" y="13716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Outlook email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PagerDuty alerts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320040" y="2048256"/>
            <a:ext cx="1828800" cy="54864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6"/>
          <p:cNvSpPr/>
          <p:nvPr/>
        </p:nvSpPr>
        <p:spPr>
          <a:xfrm>
            <a:off x="320040" y="2048256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Teams bot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@mentions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320040" y="2724912"/>
            <a:ext cx="1828800" cy="54864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6"/>
          <p:cNvSpPr/>
          <p:nvPr/>
        </p:nvSpPr>
        <p:spPr>
          <a:xfrm>
            <a:off x="320040" y="272491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Webhooks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GitHub, forms, monitors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320040" y="3401568"/>
            <a:ext cx="1828800" cy="54864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6"/>
          <p:cNvSpPr/>
          <p:nvPr/>
        </p:nvSpPr>
        <p:spPr>
          <a:xfrm>
            <a:off x="320040" y="3401568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Schedules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cron-style timers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2788920" y="1371600"/>
            <a:ext cx="3291840" cy="2011680"/>
          </a:xfrm>
          <a:prstGeom prst="roundRect">
            <a:avLst>
              <a:gd fmla="val 3636" name="adj"/>
            </a:avLst>
          </a:prstGeom>
          <a:solidFill>
            <a:srgbClr val="20264B"/>
          </a:solidFill>
          <a:ln>
            <a:noFill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6"/>
          <p:cNvSpPr/>
          <p:nvPr/>
        </p:nvSpPr>
        <p:spPr>
          <a:xfrm>
            <a:off x="2788920" y="1371600"/>
            <a:ext cx="3291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n8n Orchestration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Clr>
                <a:srgbClr val="C9D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4F6"/>
                </a:solidFill>
                <a:latin typeface="Calibri"/>
                <a:ea typeface="Calibri"/>
                <a:cs typeface="Calibri"/>
                <a:sym typeface="Calibri"/>
              </a:rPr>
              <a:t>AI Agents · routing rules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4F6"/>
                </a:solidFill>
                <a:latin typeface="Calibri"/>
                <a:ea typeface="Calibri"/>
                <a:cs typeface="Calibri"/>
                <a:sym typeface="Calibri"/>
              </a:rPr>
              <a:t>error handling · sub-workflows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4F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4F6"/>
                </a:solidFill>
                <a:latin typeface="Calibri"/>
                <a:ea typeface="Calibri"/>
                <a:cs typeface="Calibri"/>
                <a:sym typeface="Calibri"/>
              </a:rPr>
              <a:t>Git source control · RBAC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6995160" y="111556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ACTIONS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6995160" y="1371600"/>
            <a:ext cx="1828800" cy="54864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6"/>
          <p:cNvSpPr/>
          <p:nvPr/>
        </p:nvSpPr>
        <p:spPr>
          <a:xfrm>
            <a:off x="6995160" y="13716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Jira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create · update · fill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6995160" y="2048256"/>
            <a:ext cx="1828800" cy="54864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6"/>
          <p:cNvSpPr/>
          <p:nvPr/>
        </p:nvSpPr>
        <p:spPr>
          <a:xfrm>
            <a:off x="6995160" y="2048256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Teams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alerts &amp; bot replies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6995160" y="2724912"/>
            <a:ext cx="1828800" cy="54864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6"/>
          <p:cNvSpPr/>
          <p:nvPr/>
        </p:nvSpPr>
        <p:spPr>
          <a:xfrm>
            <a:off x="6995160" y="272491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drafts &amp; digests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6"/>
          <p:cNvSpPr/>
          <p:nvPr/>
        </p:nvSpPr>
        <p:spPr>
          <a:xfrm>
            <a:off x="6995160" y="3401568"/>
            <a:ext cx="1828800" cy="54864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6"/>
          <p:cNvSpPr/>
          <p:nvPr/>
        </p:nvSpPr>
        <p:spPr>
          <a:xfrm>
            <a:off x="6995160" y="3401568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Databases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log ·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6" name="Google Shape;466;p16"/>
          <p:cNvCxnSpPr/>
          <p:nvPr/>
        </p:nvCxnSpPr>
        <p:spPr>
          <a:xfrm>
            <a:off x="2148840" y="1645920"/>
            <a:ext cx="640080" cy="731520"/>
          </a:xfrm>
          <a:prstGeom prst="straightConnector1">
            <a:avLst/>
          </a:prstGeom>
          <a:noFill/>
          <a:ln cap="flat" cmpd="sng" w="1587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7" name="Google Shape;467;p16"/>
          <p:cNvCxnSpPr/>
          <p:nvPr/>
        </p:nvCxnSpPr>
        <p:spPr>
          <a:xfrm flipH="1" rot="10800000">
            <a:off x="6080760" y="1645920"/>
            <a:ext cx="914400" cy="731520"/>
          </a:xfrm>
          <a:prstGeom prst="straightConnector1">
            <a:avLst/>
          </a:prstGeom>
          <a:noFill/>
          <a:ln cap="flat" cmpd="sng" w="1587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8" name="Google Shape;468;p16"/>
          <p:cNvCxnSpPr/>
          <p:nvPr/>
        </p:nvCxnSpPr>
        <p:spPr>
          <a:xfrm>
            <a:off x="2148840" y="2322576"/>
            <a:ext cx="640080" cy="54864"/>
          </a:xfrm>
          <a:prstGeom prst="straightConnector1">
            <a:avLst/>
          </a:prstGeom>
          <a:noFill/>
          <a:ln cap="flat" cmpd="sng" w="1587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9" name="Google Shape;469;p16"/>
          <p:cNvCxnSpPr/>
          <p:nvPr/>
        </p:nvCxnSpPr>
        <p:spPr>
          <a:xfrm flipH="1" rot="10800000">
            <a:off x="6080760" y="2322576"/>
            <a:ext cx="914400" cy="54864"/>
          </a:xfrm>
          <a:prstGeom prst="straightConnector1">
            <a:avLst/>
          </a:prstGeom>
          <a:noFill/>
          <a:ln cap="flat" cmpd="sng" w="1587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0" name="Google Shape;470;p16"/>
          <p:cNvCxnSpPr/>
          <p:nvPr/>
        </p:nvCxnSpPr>
        <p:spPr>
          <a:xfrm flipH="1" rot="10800000">
            <a:off x="2148840" y="2377440"/>
            <a:ext cx="640080" cy="621792"/>
          </a:xfrm>
          <a:prstGeom prst="straightConnector1">
            <a:avLst/>
          </a:prstGeom>
          <a:noFill/>
          <a:ln cap="flat" cmpd="sng" w="1587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1" name="Google Shape;471;p16"/>
          <p:cNvCxnSpPr/>
          <p:nvPr/>
        </p:nvCxnSpPr>
        <p:spPr>
          <a:xfrm>
            <a:off x="6080760" y="2377440"/>
            <a:ext cx="914400" cy="621792"/>
          </a:xfrm>
          <a:prstGeom prst="straightConnector1">
            <a:avLst/>
          </a:prstGeom>
          <a:noFill/>
          <a:ln cap="flat" cmpd="sng" w="1587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2" name="Google Shape;472;p16"/>
          <p:cNvCxnSpPr/>
          <p:nvPr/>
        </p:nvCxnSpPr>
        <p:spPr>
          <a:xfrm flipH="1" rot="10800000">
            <a:off x="2148840" y="2578608"/>
            <a:ext cx="640080" cy="1097280"/>
          </a:xfrm>
          <a:prstGeom prst="straightConnector1">
            <a:avLst/>
          </a:prstGeom>
          <a:noFill/>
          <a:ln cap="flat" cmpd="sng" w="1587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3" name="Google Shape;473;p16"/>
          <p:cNvCxnSpPr/>
          <p:nvPr/>
        </p:nvCxnSpPr>
        <p:spPr>
          <a:xfrm>
            <a:off x="6080760" y="2377440"/>
            <a:ext cx="914400" cy="1298448"/>
          </a:xfrm>
          <a:prstGeom prst="straightConnector1">
            <a:avLst/>
          </a:prstGeom>
          <a:noFill/>
          <a:ln cap="flat" cmpd="sng" w="15875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4" name="Google Shape;474;p16"/>
          <p:cNvSpPr/>
          <p:nvPr/>
        </p:nvSpPr>
        <p:spPr>
          <a:xfrm>
            <a:off x="2788920" y="3977640"/>
            <a:ext cx="3291840" cy="777240"/>
          </a:xfrm>
          <a:prstGeom prst="roundRect">
            <a:avLst>
              <a:gd fmla="val 7059" name="adj"/>
            </a:avLst>
          </a:prstGeom>
          <a:solidFill>
            <a:srgbClr val="FCE8EE"/>
          </a:solidFill>
          <a:ln cap="flat" cmpd="sng" w="12700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6"/>
          <p:cNvSpPr/>
          <p:nvPr/>
        </p:nvSpPr>
        <p:spPr>
          <a:xfrm>
            <a:off x="2788920" y="397764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8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3283D"/>
                </a:solidFill>
                <a:latin typeface="Calibri"/>
                <a:ea typeface="Calibri"/>
                <a:cs typeface="Calibri"/>
                <a:sym typeface="Calibri"/>
              </a:rPr>
              <a:t>Knowledge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Confluence → embeddings → vector store (RAG)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6" name="Google Shape;476;p16"/>
          <p:cNvCxnSpPr/>
          <p:nvPr/>
        </p:nvCxnSpPr>
        <p:spPr>
          <a:xfrm rot="10800000">
            <a:off x="4434840" y="3383280"/>
            <a:ext cx="0" cy="594360"/>
          </a:xfrm>
          <a:prstGeom prst="straightConnector1">
            <a:avLst/>
          </a:prstGeom>
          <a:noFill/>
          <a:ln cap="flat" cmpd="sng" w="19050">
            <a:solidFill>
              <a:srgbClr val="EA4B71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477" name="Google Shape;477;p16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64B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7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B7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SESSION 2 · JULY </a:t>
            </a:r>
            <a:r>
              <a:rPr b="1" lang="en-US" sz="1100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r>
              <a:rPr b="1" i="0" lang="en-US" sz="1100" u="none" cap="none" strike="noStrike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640080" y="82296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We'll Build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640080" y="16916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4F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D4F6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640080" y="2011680"/>
            <a:ext cx="3840480" cy="1078992"/>
          </a:xfrm>
          <a:prstGeom prst="roundRect">
            <a:avLst>
              <a:gd fmla="val 5085" name="adj"/>
            </a:avLst>
          </a:prstGeom>
          <a:solidFill>
            <a:srgbClr val="2B31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7"/>
          <p:cNvSpPr/>
          <p:nvPr/>
        </p:nvSpPr>
        <p:spPr>
          <a:xfrm>
            <a:off x="822960" y="2103120"/>
            <a:ext cx="3474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 OpenAI &amp; Jira RAG Agent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C9D4F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4F6"/>
                </a:solidFill>
                <a:latin typeface="Calibri"/>
                <a:ea typeface="Calibri"/>
                <a:cs typeface="Calibri"/>
                <a:sym typeface="Calibri"/>
              </a:rPr>
              <a:t>Azure AI Foundry · vector search · IT-support RAG agent creating Jira tickets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640080" y="3236976"/>
            <a:ext cx="3840480" cy="1078992"/>
          </a:xfrm>
          <a:prstGeom prst="roundRect">
            <a:avLst>
              <a:gd fmla="val 5085" name="adj"/>
            </a:avLst>
          </a:prstGeom>
          <a:solidFill>
            <a:srgbClr val="2B31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7"/>
          <p:cNvSpPr/>
          <p:nvPr/>
        </p:nvSpPr>
        <p:spPr>
          <a:xfrm>
            <a:off x="822960" y="3328416"/>
            <a:ext cx="3474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Microsoft Graph &amp; Outlook AI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C9D4F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9D4F6"/>
                </a:solidFill>
                <a:latin typeface="Calibri"/>
                <a:ea typeface="Calibri"/>
                <a:cs typeface="Calibri"/>
                <a:sym typeface="Calibri"/>
              </a:rPr>
              <a:t>Entra ID app registration · real-time inbox listener · AI email classification · automated actions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4846320" y="16916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4F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D4F6"/>
                </a:solidFill>
                <a:latin typeface="Calibri"/>
                <a:ea typeface="Calibri"/>
                <a:cs typeface="Calibri"/>
                <a:sym typeface="Calibri"/>
              </a:rPr>
              <a:t>BEFORE WE MEET — ACCESS CHECKLIST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1" name="Google Shape;4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4608" y="207568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7"/>
          <p:cNvSpPr/>
          <p:nvPr/>
        </p:nvSpPr>
        <p:spPr>
          <a:xfrm>
            <a:off x="5175504" y="20574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 AI Foundry access approved by 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3" name="Google Shape;4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4608" y="247802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7"/>
          <p:cNvSpPr/>
          <p:nvPr/>
        </p:nvSpPr>
        <p:spPr>
          <a:xfrm>
            <a:off x="5175504" y="245973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Outlook / Microsoft Graph API permission granted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5" name="Google Shape;4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4608" y="288036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7"/>
          <p:cNvSpPr/>
          <p:nvPr/>
        </p:nvSpPr>
        <p:spPr>
          <a:xfrm>
            <a:off x="5175504" y="2862072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n8n running locally in Docker (from Session 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7" name="Google Shape;4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4608" y="328269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17"/>
          <p:cNvSpPr/>
          <p:nvPr/>
        </p:nvSpPr>
        <p:spPr>
          <a:xfrm>
            <a:off x="5175504" y="3264408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ngrok account + https://xxx.ngrok-free.dev domain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