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Urbanist Light"/>
      <p:regular r:id="rId16"/>
      <p:bold r:id="rId17"/>
      <p:italic r:id="rId18"/>
      <p:boldItalic r:id="rId19"/>
    </p:embeddedFont>
    <p:embeddedFont>
      <p:font typeface="Urbanist SemiBold"/>
      <p:regular r:id="rId20"/>
      <p:bold r:id="rId21"/>
      <p:italic r:id="rId22"/>
      <p:boldItalic r:id="rId23"/>
    </p:embeddedFont>
    <p:embeddedFont>
      <p:font typeface="Urbanist"/>
      <p:regular r:id="rId24"/>
      <p:bold r:id="rId25"/>
      <p:italic r:id="rId26"/>
      <p:boldItalic r:id="rId27"/>
    </p:embeddedFont>
    <p:embeddedFont>
      <p:font typeface="Urbanist ExtraBold"/>
      <p:bold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SemiBold-regular.fntdata"/><Relationship Id="rId22" Type="http://schemas.openxmlformats.org/officeDocument/2006/relationships/font" Target="fonts/UrbanistSemiBold-italic.fntdata"/><Relationship Id="rId21" Type="http://schemas.openxmlformats.org/officeDocument/2006/relationships/font" Target="fonts/UrbanistSemiBold-bold.fntdata"/><Relationship Id="rId24" Type="http://schemas.openxmlformats.org/officeDocument/2006/relationships/font" Target="fonts/Urbanist-regular.fntdata"/><Relationship Id="rId23" Type="http://schemas.openxmlformats.org/officeDocument/2006/relationships/font" Target="fonts/Urbanist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-italic.fntdata"/><Relationship Id="rId25" Type="http://schemas.openxmlformats.org/officeDocument/2006/relationships/font" Target="fonts/Urbanist-bold.fntdata"/><Relationship Id="rId28" Type="http://schemas.openxmlformats.org/officeDocument/2006/relationships/font" Target="fonts/UrbanistExtraBold-bold.fntdata"/><Relationship Id="rId27" Type="http://schemas.openxmlformats.org/officeDocument/2006/relationships/font" Target="fonts/Urbanis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UrbanistExtra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rbanistLight-bold.fntdata"/><Relationship Id="rId16" Type="http://schemas.openxmlformats.org/officeDocument/2006/relationships/font" Target="fonts/UrbanistLight-regular.fntdata"/><Relationship Id="rId19" Type="http://schemas.openxmlformats.org/officeDocument/2006/relationships/font" Target="fonts/UrbanistLight-boldItalic.fntdata"/><Relationship Id="rId18" Type="http://schemas.openxmlformats.org/officeDocument/2006/relationships/font" Target="fonts/UrbanistLigh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4.png"/><Relationship Id="rId7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8.png"/><Relationship Id="rId9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5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16.png"/><Relationship Id="rId7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Relationship Id="rId5" Type="http://schemas.openxmlformats.org/officeDocument/2006/relationships/image" Target="../media/image21.png"/><Relationship Id="rId6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2396579"/>
            <a:ext cx="11581447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N8N AI </a:t>
            </a:r>
            <a:r>
              <a:rPr b="1" i="0" lang="en-US" sz="540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AUTOMATION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FOR ENGINEERS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4095601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ED4D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Mastering the New Frontier of Agentic Workflows &amp; MCP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06091"/>
            <a:ext cx="5229225" cy="30840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306091"/>
            <a:ext cx="5229225" cy="308401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971550" y="2696616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THE 1-DAY JOURNEY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71550" y="3163341"/>
            <a:ext cx="44481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Today is about </a:t>
            </a:r>
            <a:r>
              <a:rPr b="1" i="0" lang="en-US" sz="135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Laying the Foundation</a:t>
            </a:r>
            <a:r>
              <a:rPr b="0" i="0" lang="en-US" sz="13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, not instant mastery. You will learn the architecture, but true expertise comes from consistent building and troubleshooting.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71550" y="4176712"/>
            <a:ext cx="44481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We focus on </a:t>
            </a:r>
            <a:r>
              <a:rPr b="1" i="0" lang="en-US" sz="135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Efficiency</a:t>
            </a:r>
            <a:r>
              <a:rPr b="0" i="0" lang="en-US" sz="13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—learning how to leverage existing resources rather than starting from scratch every time.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772275" y="2696616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THE AI-FIRST APPROACH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72275" y="3163341"/>
            <a:ext cx="44481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Modern n8n development is no longer about dragging every node manually. We will utilize </a:t>
            </a:r>
            <a:r>
              <a:rPr b="1" i="0" lang="en-US" sz="135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n8n Skills</a:t>
            </a:r>
            <a:r>
              <a:rPr b="0" i="0" lang="en-US" sz="13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 and </a:t>
            </a:r>
            <a:r>
              <a:rPr b="1" i="0" lang="en-US" sz="135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MCP</a:t>
            </a:r>
            <a:r>
              <a:rPr b="0" i="0" lang="en-US" sz="13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 to let AI assist in building.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72275" y="4176712"/>
            <a:ext cx="44481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Your goal today: Gain the ability to </a:t>
            </a:r>
            <a:r>
              <a:rPr b="1" i="0" lang="en-US" sz="135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Navigate</a:t>
            </a:r>
            <a:r>
              <a:rPr b="0" i="0" lang="en-US" sz="13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 the ecosystem, </a:t>
            </a:r>
            <a:r>
              <a:rPr b="1" i="0" lang="en-US" sz="135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Prompt</a:t>
            </a:r>
            <a:r>
              <a:rPr b="0" i="0" lang="en-US" sz="13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 effectively, and </a:t>
            </a:r>
            <a:r>
              <a:rPr b="1" i="0" lang="en-US" sz="135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Troubleshoot</a:t>
            </a:r>
            <a:r>
              <a:rPr b="0" i="0" lang="en-US" sz="13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 complex logic.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SETTING REALISTIC EXPECTATIONS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81025" y="581025"/>
            <a:ext cx="47625" cy="4572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43100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581025" y="2547937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FROM MANUAL TO AGENTIC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81025" y="3014662"/>
            <a:ext cx="52292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Traditional automation follows rigid, linear paths. Agentic automation uses LLMs to make real-time decisions, transforming static scripts into dynamic workflows.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057275" y="4123283"/>
            <a:ext cx="47529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AI-Driven:</a:t>
            </a:r>
            <a:r>
              <a:rPr b="0" i="0" lang="en-US" sz="13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 AI designs the logic based on goals.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057275" y="4635698"/>
            <a:ext cx="47529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Orchestration:</a:t>
            </a:r>
            <a:r>
              <a:rPr b="0" i="0" lang="en-US" sz="13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 n8n acts as the "Glue" for AI tools.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52625"/>
            <a:ext cx="5210175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16138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673798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THE PARADIGM SHIFT IN AUTOMATION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81025" y="581025"/>
            <a:ext cx="47625" cy="4572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65040"/>
            <a:ext cx="3486150" cy="27659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465040"/>
            <a:ext cx="3486150" cy="27659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465040"/>
            <a:ext cx="3486150" cy="276597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923925" y="3598515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SELF-HOSTED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23925" y="4065240"/>
            <a:ext cx="28003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Full control over data and privacy. Run on Docker, locally or in your VPC.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695825" y="3598515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EXTENSIBLE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4695825" y="4065240"/>
            <a:ext cx="28003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Write custom JS/Python nodes or use hundreds of built-in integrations.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467725" y="3598515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OPEN ECOSYSTEM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467725" y="4065240"/>
            <a:ext cx="28003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Massive community library. Don't reinvent the wheel; import and adapt.</a:t>
            </a:r>
            <a:endParaRPr/>
          </a:p>
        </p:txBody>
      </p:sp>
      <p:pic>
        <p:nvPicPr>
          <p:cNvPr descr="image.png" id="131" name="Google Shape;13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3925" y="28460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5825" y="2846040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67725" y="284604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WHY N8N FOR ENGINEERS?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581025" y="581025"/>
            <a:ext cx="47625" cy="4572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/>
          <p:nvPr/>
        </p:nvSpPr>
        <p:spPr>
          <a:xfrm>
            <a:off x="1607790" y="3771900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0F5D4"/>
          </a:solidFill>
          <a:ln cap="flat" cmpd="sng" w="38100">
            <a:solidFill>
              <a:srgbClr val="0A0A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3813720" y="3771900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0F5D4"/>
          </a:solidFill>
          <a:ln cap="flat" cmpd="sng" w="38100">
            <a:solidFill>
              <a:srgbClr val="0A0A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6019651" y="3771900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0F5D4"/>
          </a:solidFill>
          <a:ln cap="flat" cmpd="sng" w="38100">
            <a:solidFill>
              <a:srgbClr val="0A0A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8225581" y="3771900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0F5D4"/>
          </a:solidFill>
          <a:ln cap="flat" cmpd="sng" w="38100">
            <a:solidFill>
              <a:srgbClr val="0A0A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10431512" y="3771900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0F5D4"/>
          </a:solidFill>
          <a:ln cap="flat" cmpd="sng" w="38100">
            <a:solidFill>
              <a:srgbClr val="0A0A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581025" y="3848100"/>
            <a:ext cx="11029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483840" y="4419600"/>
            <a:ext cx="2400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01 INTRO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540990" y="4886325"/>
            <a:ext cx="2286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Setup &amp; Core Concepts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2689770" y="2535584"/>
            <a:ext cx="2400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02 PRACTICE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2746920" y="3002309"/>
            <a:ext cx="2286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Building Core Workflows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4895701" y="4419600"/>
            <a:ext cx="2400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03 AI AGENT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4952851" y="4886325"/>
            <a:ext cx="2286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LangChain &amp; n8n Skills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7101631" y="2535584"/>
            <a:ext cx="2400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04 ADVANCED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7158781" y="3002309"/>
            <a:ext cx="2286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MCP &amp; Troubleshooting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9307562" y="4419600"/>
            <a:ext cx="2400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05 CASE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9364712" y="4886325"/>
            <a:ext cx="2286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Real-world Lab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TODAY'S TRAINING ROADMAP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81025" y="581025"/>
            <a:ext cx="47625" cy="4572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581025" y="2995463"/>
            <a:ext cx="522922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0" u="none" cap="none" strike="noStrike">
                <a:solidFill>
                  <a:srgbClr val="00F5D4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MCP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581025" y="4424213"/>
            <a:ext cx="52292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MODEL CONTEXT PROTOCOL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381750" y="2833687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CONNECT YOUR IDE TO N8N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381750" y="3300412"/>
            <a:ext cx="52292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MCP (Model Context Protocol) allows AI assistants like Claude Desktop or Cursor to directly interact with your n8n instance.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381750" y="4039492"/>
            <a:ext cx="52292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n8n Skills</a:t>
            </a:r>
            <a:r>
              <a:rPr b="0" i="0" lang="en-US" sz="13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 provide the "manual" for the LLM, teaching it how to configure nodes, handle expressions, and follow best patterns automatically.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N8N SKILLS &amp; THE MCP PROTOCOL</a:t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581025" y="581025"/>
            <a:ext cx="47625" cy="4572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/>
          <p:nvPr/>
        </p:nvSpPr>
        <p:spPr>
          <a:xfrm>
            <a:off x="5619750" y="2860327"/>
            <a:ext cx="952500" cy="381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1775459" y="3184177"/>
            <a:ext cx="864108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TECHNICAL ARCHITECTURE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4514850" y="3917602"/>
            <a:ext cx="31623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ED4D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Deep Dive into the Engine Room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711673"/>
            <a:ext cx="6309424" cy="163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76194" y="1711672"/>
            <a:ext cx="4434780" cy="427285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923925" y="2054572"/>
            <a:ext cx="59048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COMMUNITY LIBRARY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923925" y="2521297"/>
            <a:ext cx="562361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Access 2,500+ proven workflow patterns. Copy-paste logic for complex auth flows, data migrations, and multi-step AI agents.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7519094" y="2054572"/>
            <a:ext cx="393642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ALWAYS UPDATED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7519094" y="2521297"/>
            <a:ext cx="374898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n8n is a fast-moving target. The community-driven nodes and templates ensure you stay compatible with the latest API changes.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LEVERAGING THE GLOBAL ECOSYSTEM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581025" y="581025"/>
            <a:ext cx="47625" cy="4572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2" name="Google Shape;19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017623"/>
            <a:ext cx="6309424" cy="163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923875" y="4330372"/>
            <a:ext cx="5904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NO MORE BLANK CANVAS</a:t>
            </a:r>
            <a:endParaRPr b="1" sz="21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923875" y="4797097"/>
            <a:ext cx="56235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Using an MCP-enabled agent, you can simply describe a workflow in plain English inside your favorite code editor.</a:t>
            </a:r>
            <a:endParaRPr sz="1350">
              <a:solidFill>
                <a:srgbClr val="B0B0B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1057275" y="2762250"/>
            <a:ext cx="10553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Error Trigger Workflows:</a:t>
            </a:r>
            <a:r>
              <a:rPr b="0" i="0" lang="en-US" sz="15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 Centralized error logging and notification systems to monitor all automated tasks.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1057275" y="3305175"/>
            <a:ext cx="10553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Self-Healing Loops:</a:t>
            </a:r>
            <a:r>
              <a:rPr b="0" i="0" lang="en-US" sz="15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 Implementing "Retry on Fail" and conditional logic to allow AI agents to fix their own inputs.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1057275" y="3848100"/>
            <a:ext cx="10553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Execution Inspection:</a:t>
            </a:r>
            <a:r>
              <a:rPr b="0" i="0" lang="en-US" sz="15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 Learning to read binary data flows and JSON states to pinpoint upstream failures.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1057275" y="4391025"/>
            <a:ext cx="10553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Unit Testing:</a:t>
            </a:r>
            <a:r>
              <a:rPr b="0" i="0" lang="en-US" sz="15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 Using "Wait" nodes and Mock data to simulate production environments safely.</a:t>
            </a:r>
            <a:endParaRPr/>
          </a:p>
        </p:txBody>
      </p:sp>
      <p:pic>
        <p:nvPicPr>
          <p:cNvPr descr="image.png" id="204" name="Google Shape;20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003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3432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8862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42912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MASTERING ERROR HANDLING</a:t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581025" y="581025"/>
            <a:ext cx="47625" cy="4572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/>
          <p:nvPr/>
        </p:nvSpPr>
        <p:spPr>
          <a:xfrm>
            <a:off x="581025" y="2576661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581025" y="3559522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581025" y="354999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581025" y="354999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581025" y="433476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581025" y="433476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1" name="Google Shape;22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2520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1676400" y="2719536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https://png.pngtree.com/thumb_back/fh260/background/20260228/pngtree-advanced-humanoid-robot-working-at-a-computer-in-futuristic-data-center-image_21465016.webp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1676400" y="3163341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pngtree.com</a:t>
            </a:r>
            <a:endParaRPr/>
          </a:p>
        </p:txBody>
      </p:sp>
      <p:pic>
        <p:nvPicPr>
          <p:cNvPr descr="image.png" id="224" name="Google Shape;22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70894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1676400" y="3702397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https://us1.discourse-cdn.com/hellohellohello/original/3X/1/e/1e2fbc0c8c6fbb158f904138617fa4df0c0885bd.jpeg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1676400" y="3948112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discuss.huggingface.co</a:t>
            </a:r>
            <a:endParaRPr/>
          </a:p>
        </p:txBody>
      </p:sp>
      <p:pic>
        <p:nvPicPr>
          <p:cNvPr descr="image.png" id="227" name="Google Shape;22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49371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1676400" y="4487167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https://www.secondtalent.com/wp-content/uploads/2025/08/qodo-1024x672.webp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1676400" y="4732883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www.secondtalent.com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31" name="Google Shape;231;p22"/>
          <p:cNvSpPr/>
          <p:nvPr/>
        </p:nvSpPr>
        <p:spPr>
          <a:xfrm>
            <a:off x="581025" y="581025"/>
            <a:ext cx="47625" cy="4572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