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Roboto Mono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700AF1-EB2F-4CE3-90E3-D2B19DB9463A}">
  <a:tblStyle styleId="{B1700AF1-EB2F-4CE3-90E3-D2B19DB946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Mono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RobotoMonoSemiBold-italic.fntdata"/><Relationship Id="rId18" Type="http://schemas.openxmlformats.org/officeDocument/2006/relationships/font" Target="fonts/RobotoMono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image" Target="../media/image13.png"/><Relationship Id="rId12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3" Type="http://schemas.openxmlformats.org/officeDocument/2006/relationships/image" Target="../media/image28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25.png"/><Relationship Id="rId15" Type="http://schemas.openxmlformats.org/officeDocument/2006/relationships/image" Target="../media/image22.png"/><Relationship Id="rId14" Type="http://schemas.openxmlformats.org/officeDocument/2006/relationships/image" Target="../media/image24.png"/><Relationship Id="rId17" Type="http://schemas.openxmlformats.org/officeDocument/2006/relationships/image" Target="../media/image30.png"/><Relationship Id="rId16" Type="http://schemas.openxmlformats.org/officeDocument/2006/relationships/image" Target="../media/image23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6.png"/><Relationship Id="rId5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36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Relationship Id="rId5" Type="http://schemas.openxmlformats.org/officeDocument/2006/relationships/image" Target="../media/image40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Relationship Id="rId8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44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5" Type="http://schemas.openxmlformats.org/officeDocument/2006/relationships/image" Target="../media/image41.png"/><Relationship Id="rId6" Type="http://schemas.openxmlformats.org/officeDocument/2006/relationships/image" Target="../media/image45.png"/><Relationship Id="rId7" Type="http://schemas.openxmlformats.org/officeDocument/2006/relationships/image" Target="../media/image37.png"/><Relationship Id="rId8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3.png"/><Relationship Id="rId9" Type="http://schemas.openxmlformats.org/officeDocument/2006/relationships/image" Target="../media/image60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49.png"/><Relationship Id="rId8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5.png"/><Relationship Id="rId9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6.png"/><Relationship Id="rId7" Type="http://schemas.openxmlformats.org/officeDocument/2006/relationships/image" Target="../media/image52.png"/><Relationship Id="rId8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2.png"/><Relationship Id="rId5" Type="http://schemas.openxmlformats.org/officeDocument/2006/relationships/image" Target="../media/image65.png"/><Relationship Id="rId6" Type="http://schemas.openxmlformats.org/officeDocument/2006/relationships/image" Target="../media/image6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6.png"/><Relationship Id="rId5" Type="http://schemas.openxmlformats.org/officeDocument/2006/relationships/image" Target="../media/image64.png"/><Relationship Id="rId6" Type="http://schemas.openxmlformats.org/officeDocument/2006/relationships/image" Target="../media/image63.png"/><Relationship Id="rId7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972175"/>
            <a:ext cx="421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76548"/>
            <a:ext cx="6076950" cy="3504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0900" y="1524000"/>
            <a:ext cx="44196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857250" y="1962298"/>
            <a:ext cx="5780722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rPr>
              <a:t>Orchestrating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rPr>
              <a:t> Intelligence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57250" y="3661320"/>
            <a:ext cx="550545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Architecting the Future of Process Automation with n8n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19950" y="1543050"/>
            <a:ext cx="36957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11049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24125"/>
            <a:ext cx="5334000" cy="4998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524125"/>
            <a:ext cx="5334000" cy="4998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4724251"/>
            <a:ext cx="8382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33775" y="4724251"/>
            <a:ext cx="8286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571500" y="476250"/>
            <a:ext cx="11049000" cy="523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7625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Beyond Simple Connections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291465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Point-to-Point Connectors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962025" y="3362325"/>
            <a:ext cx="4552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962025" y="6686401"/>
            <a:ext cx="4552950" cy="171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Rigid, linear, stateless execution.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77025" y="291465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n8n Orchestration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6677025" y="3362325"/>
            <a:ext cx="4552950" cy="1905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43250" y="4895701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/>
          <p:nvPr/>
        </p:nvSpPr>
        <p:spPr>
          <a:xfrm>
            <a:off x="6677025" y="3714750"/>
            <a:ext cx="4552950" cy="948630"/>
          </a:xfrm>
          <a:prstGeom prst="roundRect">
            <a:avLst>
              <a:gd fmla="val 80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7153275" y="3905250"/>
            <a:ext cx="388620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Visual Code Canvas: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Branching paths and complex logic arrays.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6677025" y="4853880"/>
            <a:ext cx="4552950" cy="948630"/>
          </a:xfrm>
          <a:prstGeom prst="roundRect">
            <a:avLst>
              <a:gd fmla="val 80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7153275" y="5044380"/>
            <a:ext cx="388620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Dynamic Transformation: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Map, format, and parse JSON payloads natively.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6677025" y="5993010"/>
            <a:ext cx="4552950" cy="948630"/>
          </a:xfrm>
          <a:prstGeom prst="roundRect">
            <a:avLst>
              <a:gd fmla="val 80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7153275" y="6183510"/>
            <a:ext cx="388620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Embedded Intelligence: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Seamless LLM &amp; AI Agent integration loops.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6677025" y="4653855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677025" y="5792985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677025" y="6932116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8" name="Google Shape;11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77050" y="39290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77050" y="506819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77050" y="6207323"/>
            <a:ext cx="2190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1462" y="1285875"/>
            <a:ext cx="9715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5887" y="1285875"/>
            <a:ext cx="8763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1285875"/>
            <a:ext cx="7810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8987" y="1285875"/>
            <a:ext cx="9715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075557"/>
            <a:ext cx="3710136" cy="4173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2048" y="2075557"/>
            <a:ext cx="3568451" cy="4173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07466" y="5523532"/>
            <a:ext cx="2518752" cy="410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87413" y="1971213"/>
            <a:ext cx="3358857" cy="438242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/>
          <p:nvPr/>
        </p:nvSpPr>
        <p:spPr>
          <a:xfrm>
            <a:off x="571500" y="476250"/>
            <a:ext cx="11049000" cy="523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300037" y="47625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Anatomy of the Data Flow</a:t>
            </a:r>
            <a:endParaRPr/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2025" y="246608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962025" y="3466207"/>
            <a:ext cx="30755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Input Node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62025" y="4085332"/>
            <a:ext cx="2929086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Nodes ingest structured JSON payloads from dynamic triggers (e.g., webhooks, Slack messages, scheduled cron jobs).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07466" y="2391266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4907466" y="3441397"/>
            <a:ext cx="2644689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Core Logic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4907466" y="4091478"/>
            <a:ext cx="2518752" cy="115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Fixed values provide static rules. Expressions (JavaScript) pull dynamic data from previous nodes.</a:t>
            </a:r>
            <a:endParaRPr/>
          </a:p>
        </p:txBody>
      </p:sp>
      <p:pic>
        <p:nvPicPr>
          <p:cNvPr descr="image.png" id="142" name="Google Shape;142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42573" y="246608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8442573" y="3466207"/>
            <a:ext cx="29267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Output Node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442573" y="4085332"/>
            <a:ext cx="2787401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output payload of one node natively becomes the input schema for the next, forming an unbroken logic chain.</a:t>
            </a:r>
            <a:endParaRPr/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52525" y="265658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107491" y="2591291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585448" y="2656582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4701"/>
            <a:ext cx="11049000" cy="36229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0209" y="3609082"/>
            <a:ext cx="1905000" cy="4228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/>
          <p:nvPr/>
        </p:nvSpPr>
        <p:spPr>
          <a:xfrm>
            <a:off x="571500" y="476250"/>
            <a:ext cx="11049000" cy="523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571500" y="47625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The Universal Access Layer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71500" y="1095375"/>
            <a:ext cx="11049000" cy="60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571500" y="109537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HTTP Request node connects to any external service. Choosing the right authentication architecture is critical for security and scale.</a:t>
            </a:r>
            <a:endParaRPr/>
          </a:p>
        </p:txBody>
      </p:sp>
      <p:graphicFrame>
        <p:nvGraphicFramePr>
          <p:cNvPr id="159" name="Google Shape;159;p16"/>
          <p:cNvGraphicFramePr/>
          <p:nvPr/>
        </p:nvGraphicFramePr>
        <p:xfrm>
          <a:off x="581025" y="23842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{B1700AF1-EB2F-4CE3-90E3-D2B19DB9463A}</a:tableStyleId>
              </a:tblPr>
              <a:tblGrid>
                <a:gridCol w="2756300"/>
                <a:gridCol w="3869525"/>
                <a:gridCol w="4399350"/>
              </a:tblGrid>
              <a:tr h="90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563EB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Header Auth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563EB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OAuth2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90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Mechanism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Injects API keys directly into HTTP headers.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Authorization: Bearer </a:t>
                      </a: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Predefined credential types authenticating via App Scopes (e.g., Google Cloud Console).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Setup Profile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Rapid. Requires standard API key generation from provider dashboard.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Complex. Requires Client IDs, Client Secrets, and Authorized Redirect URIs.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Optimal 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OpenWeatherMap, FireCrawl Web Scraper, Perplexity AI, OpenAI APIs.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Google Drive, Gmail, Slack API integrations, internal enterprise apps.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16"/>
          <p:cNvSpPr/>
          <p:nvPr/>
        </p:nvSpPr>
        <p:spPr>
          <a:xfrm>
            <a:off x="581025" y="3065264"/>
            <a:ext cx="2756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3327796" y="2384226"/>
            <a:ext cx="9525" cy="6905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3337321" y="3065264"/>
            <a:ext cx="38695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7197328" y="2384226"/>
            <a:ext cx="9525" cy="6905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7206853" y="3065264"/>
            <a:ext cx="4399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11596687" y="2384226"/>
            <a:ext cx="9525" cy="6905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581025" y="4217640"/>
            <a:ext cx="2756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3327796" y="3074789"/>
            <a:ext cx="9525" cy="11523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3337321" y="4217640"/>
            <a:ext cx="38695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7197328" y="3074789"/>
            <a:ext cx="9525" cy="11523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7206853" y="4217640"/>
            <a:ext cx="4399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1596687" y="3074789"/>
            <a:ext cx="9525" cy="11523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581025" y="5095726"/>
            <a:ext cx="2756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3327796" y="4227165"/>
            <a:ext cx="9525" cy="87808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3337321" y="5095726"/>
            <a:ext cx="38695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7197328" y="4227165"/>
            <a:ext cx="9525" cy="87808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7206853" y="5095726"/>
            <a:ext cx="4399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11596687" y="4227165"/>
            <a:ext cx="9525" cy="87808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581025" y="5973812"/>
            <a:ext cx="2756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3327796" y="5105251"/>
            <a:ext cx="9525" cy="87808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3337321" y="5973812"/>
            <a:ext cx="38695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7197328" y="5105251"/>
            <a:ext cx="9525" cy="87808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7206853" y="5973812"/>
            <a:ext cx="4399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11596687" y="5105251"/>
            <a:ext cx="9525" cy="87808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7007"/>
            <a:ext cx="3308300" cy="366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5550" y="2247007"/>
            <a:ext cx="3508176" cy="366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59476" y="2247007"/>
            <a:ext cx="3661023" cy="366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/>
          <p:nvPr/>
        </p:nvSpPr>
        <p:spPr>
          <a:xfrm>
            <a:off x="571500" y="476250"/>
            <a:ext cx="11049000" cy="523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300037" y="47625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Architecting the AI Agent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1447800" y="1095375"/>
            <a:ext cx="929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 agent acts dynamically based on system prompts, deciding when and how to use connected tools.</a:t>
            </a:r>
            <a:endParaRPr/>
          </a:p>
        </p:txBody>
      </p:sp>
      <p:pic>
        <p:nvPicPr>
          <p:cNvPr descr="image.png" id="195" name="Google Shape;19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63753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/>
          <p:nvPr/>
        </p:nvSpPr>
        <p:spPr>
          <a:xfrm>
            <a:off x="962025" y="3637657"/>
            <a:ext cx="2653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The Brain (LLM)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962025" y="4256782"/>
            <a:ext cx="25272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Powered by APIs via direct OpenAI/Anthropic integration. Executes the overarching System Prompt.</a:t>
            </a:r>
            <a:endParaRPr/>
          </a:p>
        </p:txBody>
      </p:sp>
      <p:pic>
        <p:nvPicPr>
          <p:cNvPr descr="image.png" id="198" name="Google Shape;19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6075" y="263753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4556075" y="3637657"/>
            <a:ext cx="286348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The Context (Memory)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4556075" y="4256782"/>
            <a:ext cx="2727126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Retains session state. Prevents stateless amnesia between chat iterations by recalling previous exchanges.</a:t>
            </a:r>
            <a:endParaRPr/>
          </a:p>
        </p:txBody>
      </p:sp>
      <p:pic>
        <p:nvPicPr>
          <p:cNvPr descr="image.png" id="201" name="Google Shape;20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0001" y="263753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8350001" y="3637657"/>
            <a:ext cx="302397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The Hands (Tools)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8350001" y="4256782"/>
            <a:ext cx="2879973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Grants read/write permissions to external environments. The agent evaluates the user prompt to trigger tool calls.</a:t>
            </a:r>
            <a:endParaRPr/>
          </a:p>
        </p:txBody>
      </p:sp>
      <p:pic>
        <p:nvPicPr>
          <p:cNvPr descr="image.png" id="204" name="Google Shape;20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2525" y="28280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70387" y="282803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40501" y="282803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5334000" cy="6516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85875"/>
            <a:ext cx="5334000" cy="651673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/>
          <p:nvPr/>
        </p:nvSpPr>
        <p:spPr>
          <a:xfrm>
            <a:off x="571500" y="476250"/>
            <a:ext cx="11049000" cy="523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571500" y="47625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The Memory Matrix: Context vs. RAG</a:t>
            </a:r>
            <a:endParaRPr/>
          </a:p>
        </p:txBody>
      </p:sp>
      <p:pic>
        <p:nvPicPr>
          <p:cNvPr descr="image.png" id="216" name="Google Shape;21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0" y="1676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848201" y="2628900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Simple Memory (Context)</a:t>
            </a:r>
            <a:endParaRPr/>
          </a:p>
        </p:txBody>
      </p:sp>
      <p:pic>
        <p:nvPicPr>
          <p:cNvPr descr="image.png" id="218" name="Google Shape;21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0" y="1676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6563201" y="2628900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Vector Database (RAG)</a:t>
            </a:r>
            <a:endParaRPr/>
          </a:p>
        </p:txBody>
      </p:sp>
      <p:pic>
        <p:nvPicPr>
          <p:cNvPr descr="image.png" id="220" name="Google Shape;22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8000" y="18669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/>
          <p:nvPr/>
        </p:nvSpPr>
        <p:spPr>
          <a:xfrm>
            <a:off x="962025" y="3171825"/>
            <a:ext cx="4552950" cy="1222920"/>
          </a:xfrm>
          <a:prstGeom prst="roundRect">
            <a:avLst>
              <a:gd fmla="val 62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1438275" y="3362325"/>
            <a:ext cx="3886200" cy="8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Architecture: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Short-term session history injected directly into the LLM's context window.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962025" y="4585245"/>
            <a:ext cx="4552950" cy="948630"/>
          </a:xfrm>
          <a:prstGeom prst="roundRect">
            <a:avLst>
              <a:gd fmla="val 80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1438275" y="4775745"/>
            <a:ext cx="388620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Scope: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Recent conversational loops (e.g., retaining the last 5 interactions).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962025" y="5724376"/>
            <a:ext cx="4552950" cy="1222920"/>
          </a:xfrm>
          <a:prstGeom prst="roundRect">
            <a:avLst>
              <a:gd fmla="val 62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1438275" y="5914876"/>
            <a:ext cx="3886200" cy="8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Behavior: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Stateful continuity. Allows the agent to remember user names or prior questions in the immediate thread.</a:t>
            </a:r>
            <a:endParaRPr/>
          </a:p>
        </p:txBody>
      </p:sp>
      <p:pic>
        <p:nvPicPr>
          <p:cNvPr descr="image.png" id="227" name="Google Shape;22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39187" y="18669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/>
          <p:nvPr/>
        </p:nvSpPr>
        <p:spPr>
          <a:xfrm>
            <a:off x="6677025" y="3171825"/>
            <a:ext cx="4552950" cy="1222920"/>
          </a:xfrm>
          <a:prstGeom prst="roundRect">
            <a:avLst>
              <a:gd fmla="val 62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7153275" y="3362325"/>
            <a:ext cx="3886200" cy="8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Architecture: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External knowledge stored as embeddings (e.g., Pinecone, Qdrant), retrieved via similarity search.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6677025" y="4585245"/>
            <a:ext cx="4552950" cy="1222920"/>
          </a:xfrm>
          <a:prstGeom prst="roundRect">
            <a:avLst>
              <a:gd fmla="val 62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7153275" y="4775745"/>
            <a:ext cx="3886200" cy="8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Scope: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Massive, long-term searchable document repositories (SOPs, product manuals).</a:t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6677025" y="5998666"/>
            <a:ext cx="4552950" cy="1222920"/>
          </a:xfrm>
          <a:prstGeom prst="roundRect">
            <a:avLst>
              <a:gd fmla="val 62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7153275" y="6189166"/>
            <a:ext cx="3886200" cy="668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Behavior: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Precision knowledge retrieval. Forces the LLM to synthesize answers solely from specific company data.</a:t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962025" y="4385220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962025" y="5524351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962025" y="6937771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6677025" y="4385220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6677025" y="5798641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6677025" y="7212062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62050" y="338613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62050" y="479955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62050" y="593868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77050" y="338613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77050" y="479955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77050" y="6212978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110490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/>
          <p:nvPr/>
        </p:nvSpPr>
        <p:spPr>
          <a:xfrm>
            <a:off x="571500" y="476250"/>
            <a:ext cx="11049000" cy="523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571500" y="47625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The Asynchronous Polling Pattern</a:t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571500" y="7059662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5" name="Google Shape;255;p19"/>
          <p:cNvGrpSpPr/>
          <p:nvPr/>
        </p:nvGrpSpPr>
        <p:grpSpPr>
          <a:xfrm>
            <a:off x="571500" y="2143125"/>
            <a:ext cx="5286375" cy="4640191"/>
            <a:chOff x="571500" y="2428875"/>
            <a:chExt cx="5286375" cy="4640191"/>
          </a:xfrm>
        </p:grpSpPr>
        <p:sp>
          <p:nvSpPr>
            <p:cNvPr id="256" name="Google Shape;256;p19"/>
            <p:cNvSpPr/>
            <p:nvPr/>
          </p:nvSpPr>
          <p:spPr>
            <a:xfrm>
              <a:off x="571500" y="2428875"/>
              <a:ext cx="5286375" cy="948630"/>
            </a:xfrm>
            <a:prstGeom prst="roundRect">
              <a:avLst>
                <a:gd fmla="val 803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1047750" y="2619375"/>
              <a:ext cx="4619700" cy="5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Initialize:</a:t>
              </a:r>
              <a:r>
                <a:rPr b="0" i="0" lang="en-US" sz="13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Submits the complex prompt and captures the required request_ID.</a:t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571500" y="3568005"/>
              <a:ext cx="5286375" cy="948630"/>
            </a:xfrm>
            <a:prstGeom prst="roundRect">
              <a:avLst>
                <a:gd fmla="val 803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1047750" y="3758505"/>
              <a:ext cx="4619700" cy="5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Delay:</a:t>
              </a:r>
              <a:r>
                <a:rPr b="0" i="0" lang="en-US" sz="13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Pauses workflow execution for a set duration (e.g., 15s) to prevent API rate-limiting.</a:t>
              </a: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571500" y="4707135"/>
              <a:ext cx="5286375" cy="948630"/>
            </a:xfrm>
            <a:prstGeom prst="roundRect">
              <a:avLst>
                <a:gd fmla="val 803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9"/>
            <p:cNvSpPr txBox="1"/>
            <p:nvPr/>
          </p:nvSpPr>
          <p:spPr>
            <a:xfrm>
              <a:off x="1047750" y="4897635"/>
              <a:ext cx="4619700" cy="5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Check Status:</a:t>
              </a:r>
              <a:r>
                <a:rPr b="0" i="0" lang="en-US" sz="13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Polls the external endpoint using the captured request_ID via GET Request.</a:t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571500" y="5846266"/>
              <a:ext cx="5286300" cy="1222800"/>
            </a:xfrm>
            <a:prstGeom prst="roundRect">
              <a:avLst>
                <a:gd fmla="val 6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9"/>
            <p:cNvSpPr txBox="1"/>
            <p:nvPr/>
          </p:nvSpPr>
          <p:spPr>
            <a:xfrm>
              <a:off x="1047750" y="6036766"/>
              <a:ext cx="4619700" cy="8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Evaluate &amp; Route:</a:t>
              </a:r>
              <a:r>
                <a:rPr b="0" i="0" lang="en-US" sz="13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Evaluates the JSON payload. If status == 'completed', break loop. If false, route back to the Wait State.</a:t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571500" y="3367980"/>
              <a:ext cx="5286375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571500" y="4507110"/>
              <a:ext cx="5286375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571500" y="5646241"/>
              <a:ext cx="5286375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67" name="Google Shape;267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1525" y="2643187"/>
              <a:ext cx="85725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68" name="Google Shape;268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1525" y="3782317"/>
              <a:ext cx="1143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69" name="Google Shape;269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71525" y="4921448"/>
              <a:ext cx="1143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70" name="Google Shape;270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71525" y="6060578"/>
              <a:ext cx="1333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1" name="Google Shape;271;p19" title="Gemini_Generated_Image_kj0d8rkj0d8rkj0d.png"/>
          <p:cNvPicPr preferRelativeResize="0"/>
          <p:nvPr/>
        </p:nvPicPr>
        <p:blipFill rotWithShape="1">
          <a:blip r:embed="rId9">
            <a:alphaModFix/>
          </a:blip>
          <a:srcRect b="2997" l="52909" r="2264" t="34295"/>
          <a:stretch/>
        </p:blipFill>
        <p:spPr>
          <a:xfrm>
            <a:off x="6334125" y="2313013"/>
            <a:ext cx="5286374" cy="430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0757"/>
            <a:ext cx="5334000" cy="266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70757"/>
            <a:ext cx="5334000" cy="266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25292"/>
            <a:ext cx="349240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49650" y="4725292"/>
            <a:ext cx="3492549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27950" y="4725292"/>
            <a:ext cx="3492400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0"/>
          <p:cNvSpPr/>
          <p:nvPr/>
        </p:nvSpPr>
        <p:spPr>
          <a:xfrm>
            <a:off x="571500" y="476250"/>
            <a:ext cx="11049000" cy="523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571500" y="47625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Taming Complexity with Sub-Workflows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1447800" y="1095375"/>
            <a:ext cx="929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As automations scale, monolithic canvases become unmanageable. Sub-workflows encapsulate logic.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962025" y="2161282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91C1C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Spaghetti Workflow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962025" y="2780407"/>
            <a:ext cx="45529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All nodes exist on a single canvas. Lines cross randomly. Error handling is impossible to trace. Updating a single node risks breaking the entire massive flow.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6677025" y="2161282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5803D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Modular Architecture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6677025" y="2780407"/>
            <a:ext cx="45529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"Master Workflow" orchestrates the high-level logic, executing encapsulated "Child Workflows" (e.g., Validate Input -&gt; Process Data -&gt; Generate Result) via dedicated nodes.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771525" y="4925317"/>
            <a:ext cx="3246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Data Scoping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771525" y="5268217"/>
            <a:ext cx="3092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Pass strictly defined variables to the child instead of the entire parent payload, improving security and performance.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4549675" y="4925317"/>
            <a:ext cx="324712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Isolation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4549675" y="5268217"/>
            <a:ext cx="30924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an API fails, only the specific child workflow errors out, protecting the master execution logs and allowing targeted retries.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8327975" y="4925317"/>
            <a:ext cx="3246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Reusability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8327975" y="5268217"/>
            <a:ext cx="3092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single data processing sub-workflow can be called by dozens of different parent workflows, maintaining DRY principles.</a:t>
            </a:r>
            <a:endParaRPr/>
          </a:p>
        </p:txBody>
      </p:sp>
      <p:pic>
        <p:nvPicPr>
          <p:cNvPr descr="image.png" id="295" name="Google Shape;29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219938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77025" y="2199382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7653"/>
            <a:ext cx="11049000" cy="383619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1"/>
          <p:cNvSpPr/>
          <p:nvPr/>
        </p:nvSpPr>
        <p:spPr>
          <a:xfrm>
            <a:off x="571500" y="476250"/>
            <a:ext cx="11049000" cy="10477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571500" y="476250"/>
            <a:ext cx="114014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Infrastructure Selection: Cloud vs. Self-Hosted</a:t>
            </a:r>
            <a:endParaRPr/>
          </a:p>
        </p:txBody>
      </p:sp>
      <p:graphicFrame>
        <p:nvGraphicFramePr>
          <p:cNvPr id="305" name="Google Shape;305;p21"/>
          <p:cNvGraphicFramePr/>
          <p:nvPr/>
        </p:nvGraphicFramePr>
        <p:xfrm>
          <a:off x="581025" y="21871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{B1700AF1-EB2F-4CE3-90E3-D2B19DB9463A}</a:tableStyleId>
              </a:tblPr>
              <a:tblGrid>
                <a:gridCol w="2756300"/>
                <a:gridCol w="3911800"/>
                <a:gridCol w="4357100"/>
              </a:tblGrid>
              <a:tr h="95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563EB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n8n Cloud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563EB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Self-Hosted / Docker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95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Setup &amp; Maintenance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Zero overhead. Automatic security patches and seamless version updates handled by n8n.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Requires Docker Compose or AWS EC2 setup. Manual version control, backups, and database management.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Security &amp;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Managed environment. Subject to external cloud compliance and regional hosting rules.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Airtight. Can run entirely locally behind corporate firewalls. Ideal for strict enterprise data governance.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Cost Structure &amp; Scale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Subscription-based. Task-execution limits based on monthly pricing tiers. Best for rapid deployments.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Pay for your own compute. Unlimited workflow executions. Capable of running local massive LLMs for zero API cost.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6" name="Google Shape;306;p21"/>
          <p:cNvSpPr/>
          <p:nvPr/>
        </p:nvSpPr>
        <p:spPr>
          <a:xfrm>
            <a:off x="581025" y="2868215"/>
            <a:ext cx="2756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327796" y="2187178"/>
            <a:ext cx="9525" cy="6905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3337321" y="2868215"/>
            <a:ext cx="3911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7239595" y="2187178"/>
            <a:ext cx="9525" cy="6905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7249120" y="2868215"/>
            <a:ext cx="4357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11596687" y="2187178"/>
            <a:ext cx="9525" cy="6905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581025" y="3990082"/>
            <a:ext cx="2756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3327796" y="2877740"/>
            <a:ext cx="9525" cy="112186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3337321" y="3990082"/>
            <a:ext cx="3911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7239595" y="2877740"/>
            <a:ext cx="9525" cy="112186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7249120" y="3990082"/>
            <a:ext cx="4357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11596687" y="2877740"/>
            <a:ext cx="9525" cy="112186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581025" y="4868167"/>
            <a:ext cx="2756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3327796" y="3999607"/>
            <a:ext cx="9525" cy="87808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337321" y="4868167"/>
            <a:ext cx="3911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7239595" y="3999607"/>
            <a:ext cx="9525" cy="87808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7249120" y="4868167"/>
            <a:ext cx="4357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11596687" y="3999607"/>
            <a:ext cx="9525" cy="87808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581025" y="5990034"/>
            <a:ext cx="2756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3327796" y="4877692"/>
            <a:ext cx="9525" cy="112186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3337321" y="5990034"/>
            <a:ext cx="3911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7239595" y="4877692"/>
            <a:ext cx="9525" cy="112186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7249120" y="5990034"/>
            <a:ext cx="4357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11596687" y="4877692"/>
            <a:ext cx="9525" cy="112186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0" name="Google Shape;33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0130" y="2354314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1928" y="236932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6" name="Google Shape;3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8819"/>
            <a:ext cx="11049000" cy="206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41440"/>
            <a:ext cx="3512194" cy="2017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69444" y="4141440"/>
            <a:ext cx="3659683" cy="2017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14878" y="4141440"/>
            <a:ext cx="3305621" cy="201721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2"/>
          <p:cNvSpPr/>
          <p:nvPr/>
        </p:nvSpPr>
        <p:spPr>
          <a:xfrm>
            <a:off x="571500" y="476250"/>
            <a:ext cx="11049000" cy="523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571500" y="47625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The Competitive Edge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705326" y="1899344"/>
            <a:ext cx="10781347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369A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"Automation isn't about replacing people. It's about orchestrating systems to free yourself from the mechanical."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866775" y="4436715"/>
            <a:ext cx="306772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rPr>
              <a:t>DevOps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866775" y="4979640"/>
            <a:ext cx="2921644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Build resilient, self-healing data pipelines that integrate seamlessly with existing tech stacks.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4664719" y="4436715"/>
            <a:ext cx="322259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rPr>
              <a:t>AI Engineering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4664719" y="4979640"/>
            <a:ext cx="3069133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Deploy multi-agent systems and custom RAG applications in hours, rather than weeks of coding.</a:t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8610153" y="4436715"/>
            <a:ext cx="2850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rPr>
              <a:t>Business Operations</a:t>
            </a:r>
            <a:endParaRPr/>
          </a:p>
        </p:txBody>
      </p:sp>
      <p:sp>
        <p:nvSpPr>
          <p:cNvPr id="349" name="Google Shape;349;p22"/>
          <p:cNvSpPr txBox="1"/>
          <p:nvPr/>
        </p:nvSpPr>
        <p:spPr>
          <a:xfrm>
            <a:off x="8610153" y="4979640"/>
            <a:ext cx="2715071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Transform scattered APIs and siloed tools into unified, intelligent operational engines.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